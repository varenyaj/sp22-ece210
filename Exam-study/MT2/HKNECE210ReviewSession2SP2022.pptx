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Lst>
  <p:sldSz cy="6858000" cx="12192000"/>
  <p:notesSz cx="6858000" cy="9144000"/>
  <p:embeddedFontLst>
    <p:embeddedFont>
      <p:font typeface="Roboto"/>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88" roundtripDataSignature="AMtx7miZSH+mEdjV4VSggZvOzszKqwG9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Roboto-regular.fntdata"/><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font" Target="fonts/Roboto-italic.fntdata"/><Relationship Id="rId41" Type="http://schemas.openxmlformats.org/officeDocument/2006/relationships/slide" Target="slides/slide37.xml"/><Relationship Id="rId85" Type="http://schemas.openxmlformats.org/officeDocument/2006/relationships/font" Target="fonts/Roboto-bold.fntdata"/><Relationship Id="rId44" Type="http://schemas.openxmlformats.org/officeDocument/2006/relationships/slide" Target="slides/slide40.xml"/><Relationship Id="rId88" Type="http://customschemas.google.com/relationships/presentationmetadata" Target="metadata"/><Relationship Id="rId43" Type="http://schemas.openxmlformats.org/officeDocument/2006/relationships/slide" Target="slides/slide39.xml"/><Relationship Id="rId87" Type="http://schemas.openxmlformats.org/officeDocument/2006/relationships/font" Target="fonts/Roboto-boldItalic.fntdata"/><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1d7b9058fb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1d7b9058fb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11d7b9058fb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Jason,</a:t>
            </a:r>
            <a:endParaRPr/>
          </a:p>
          <a:p>
            <a:pPr indent="0" lvl="0" marL="0" rtl="0" algn="l">
              <a:spcBef>
                <a:spcPts val="0"/>
              </a:spcBef>
              <a:spcAft>
                <a:spcPts val="0"/>
              </a:spcAft>
              <a:buNone/>
            </a:pPr>
            <a:r>
              <a:rPr lang="en-US"/>
              <a:t>tau = L/R</a:t>
            </a:r>
            <a:endParaRPr/>
          </a:p>
          <a:p>
            <a:pPr indent="0" lvl="0" marL="0" rtl="0" algn="l">
              <a:spcBef>
                <a:spcPts val="0"/>
              </a:spcBef>
              <a:spcAft>
                <a:spcPts val="0"/>
              </a:spcAft>
              <a:buNone/>
            </a:pPr>
            <a:r>
              <a:rPr lang="en-US"/>
              <a:t>tau = RC</a:t>
            </a:r>
            <a:endParaRPr/>
          </a:p>
        </p:txBody>
      </p:sp>
      <p:sp>
        <p:nvSpPr>
          <p:cNvPr id="118" name="Google Shape;11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Jason</a:t>
            </a:r>
            <a:endParaRPr/>
          </a:p>
        </p:txBody>
      </p:sp>
      <p:sp>
        <p:nvSpPr>
          <p:cNvPr id="127" name="Google Shape;1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Jason</a:t>
            </a:r>
            <a:endParaRPr/>
          </a:p>
        </p:txBody>
      </p:sp>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Jason</a:t>
            </a:r>
            <a:endParaRPr/>
          </a:p>
        </p:txBody>
      </p:sp>
      <p:sp>
        <p:nvSpPr>
          <p:cNvPr id="144" name="Google Shape;14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Jason</a:t>
            </a:r>
            <a:endParaRPr/>
          </a:p>
        </p:txBody>
      </p:sp>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Jason</a:t>
            </a:r>
            <a:endParaRPr/>
          </a:p>
          <a:p>
            <a:pPr indent="0" lvl="0" marL="0" rtl="0" algn="l">
              <a:spcBef>
                <a:spcPts val="0"/>
              </a:spcBef>
              <a:spcAft>
                <a:spcPts val="0"/>
              </a:spcAft>
              <a:buNone/>
            </a:pPr>
            <a:r>
              <a:rPr lang="en-US"/>
              <a:t>The system is not LTI: Input frequency of 2 causes two output frequencies, which is illegal for LTI systems (Y = HF must hold) Note: output can lose frequencies, but not vice versa.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Yes, we can create some H(w) with certain |H(2)| and angle response for H(2) that yields that sin and also have |H(4)| = 0.</a:t>
            </a:r>
            <a:endParaRPr/>
          </a:p>
        </p:txBody>
      </p:sp>
      <p:sp>
        <p:nvSpPr>
          <p:cNvPr id="159" name="Google Shape;15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Grant</a:t>
            </a:r>
            <a:endParaRPr/>
          </a:p>
        </p:txBody>
      </p:sp>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Pg no. 153, Grant</a:t>
            </a:r>
            <a:endParaRPr/>
          </a:p>
        </p:txBody>
      </p:sp>
      <p:sp>
        <p:nvSpPr>
          <p:cNvPr id="177" name="Google Shape;17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1d7b9058fb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1d7b9058fb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Grant</a:t>
            </a:r>
            <a:endParaRPr/>
          </a:p>
        </p:txBody>
      </p:sp>
      <p:sp>
        <p:nvSpPr>
          <p:cNvPr id="185" name="Google Shape;185;g11d7b9058fb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1d7b9058fb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1d7b9058fb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Grant</a:t>
            </a:r>
            <a:endParaRPr/>
          </a:p>
        </p:txBody>
      </p:sp>
      <p:sp>
        <p:nvSpPr>
          <p:cNvPr id="200" name="Google Shape;200;g11d7b9058fb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1d7b9058fb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1d7b9058fb_0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Jason</a:t>
            </a:r>
            <a:endParaRPr/>
          </a:p>
          <a:p>
            <a:pPr indent="0" lvl="0" marL="0" rtl="0" algn="l">
              <a:spcBef>
                <a:spcPts val="0"/>
              </a:spcBef>
              <a:spcAft>
                <a:spcPts val="0"/>
              </a:spcAft>
              <a:buNone/>
            </a:pPr>
            <a:r>
              <a:rPr lang="en-US"/>
              <a:t>3 sin(3 t - 3) = 3 cos(3 t - 3 - pi/2) -&gt; phasor -&gt; 3 e^j(-3 - pi/2). H(3) = e^j3. So output phasor is 3e^-3j e^-jpi/2 e^3j = 3 e^-jpi/2 -&gt; 3 cos(3t - pi/2) = 3sin(3t).</a:t>
            </a:r>
            <a:endParaRPr/>
          </a:p>
          <a:p>
            <a:pPr indent="0" lvl="0" marL="0" rtl="0" algn="l">
              <a:spcBef>
                <a:spcPts val="0"/>
              </a:spcBef>
              <a:spcAft>
                <a:spcPts val="0"/>
              </a:spcAft>
              <a:buNone/>
            </a:pPr>
            <a:r>
              <a:rPr lang="en-US"/>
              <a:t>3 -&gt; phasor -&gt; 3. H(0) = 1, so output phasor is 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 answer: 3sin(3t) + 3</a:t>
            </a:r>
            <a:endParaRPr/>
          </a:p>
        </p:txBody>
      </p:sp>
      <p:sp>
        <p:nvSpPr>
          <p:cNvPr id="211" name="Google Shape;211;g11d7b9058fb_0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1d7b9058fb_2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1d7b9058fb_2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Grant</a:t>
            </a:r>
            <a:endParaRPr/>
          </a:p>
        </p:txBody>
      </p:sp>
      <p:sp>
        <p:nvSpPr>
          <p:cNvPr id="220" name="Google Shape;220;g11d7b9058fb_2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1d7b9058fb_2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1d7b9058fb_2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Grant</a:t>
            </a:r>
            <a:endParaRPr/>
          </a:p>
        </p:txBody>
      </p:sp>
      <p:sp>
        <p:nvSpPr>
          <p:cNvPr id="228" name="Google Shape;228;g11d7b9058fb_2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d7b9058fb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d7b9058fb_2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Grant</a:t>
            </a:r>
            <a:endParaRPr/>
          </a:p>
        </p:txBody>
      </p:sp>
      <p:sp>
        <p:nvSpPr>
          <p:cNvPr id="237" name="Google Shape;237;g11d7b9058fb_2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1d7b9058f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1d7b9058f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Grant</a:t>
            </a:r>
            <a:endParaRPr/>
          </a:p>
        </p:txBody>
      </p:sp>
      <p:sp>
        <p:nvSpPr>
          <p:cNvPr id="246" name="Google Shape;246;g11d7b9058f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Grant</a:t>
            </a:r>
            <a:endParaRPr/>
          </a:p>
        </p:txBody>
      </p:sp>
      <p:sp>
        <p:nvSpPr>
          <p:cNvPr id="253" name="Google Shape;2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d7b9058fb_2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d7b9058fb_2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These are also </a:t>
            </a:r>
            <a:r>
              <a:rPr lang="en-US"/>
              <a:t>analogous</a:t>
            </a:r>
            <a:r>
              <a:rPr lang="en-US"/>
              <a:t> to the equations to find the real part and complex part of a complex number (because cosine is the real part and sine is the complex part)</a:t>
            </a:r>
            <a:endParaRPr/>
          </a:p>
          <a:p>
            <a:pPr indent="0" lvl="0" marL="0" rtl="0" algn="l">
              <a:spcBef>
                <a:spcPts val="0"/>
              </a:spcBef>
              <a:spcAft>
                <a:spcPts val="0"/>
              </a:spcAft>
              <a:buNone/>
            </a:pPr>
            <a:r>
              <a:rPr lang="en-US"/>
              <a:t>Jason</a:t>
            </a:r>
            <a:endParaRPr/>
          </a:p>
        </p:txBody>
      </p:sp>
      <p:sp>
        <p:nvSpPr>
          <p:cNvPr id="263" name="Google Shape;263;g11d7b9058fb_2_1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 = {2, 2pi}. T = {2pi/2, 2pi/2pi} -&gt; {pi, 1}. No LCM where these multiplied by an integer exists.</a:t>
            </a:r>
            <a:endParaRPr/>
          </a:p>
          <a:p>
            <a:pPr indent="0" lvl="0" marL="0" rtl="0" algn="l">
              <a:spcBef>
                <a:spcPts val="0"/>
              </a:spcBef>
              <a:spcAft>
                <a:spcPts val="0"/>
              </a:spcAft>
              <a:buNone/>
            </a:pPr>
            <a:r>
              <a:rPr lang="en-US"/>
              <a:t>e^4t is not a cosinusoid</a:t>
            </a:r>
            <a:endParaRPr/>
          </a:p>
          <a:p>
            <a:pPr indent="0" lvl="0" marL="0" rtl="0" algn="l">
              <a:spcBef>
                <a:spcPts val="0"/>
              </a:spcBef>
              <a:spcAft>
                <a:spcPts val="0"/>
              </a:spcAft>
              <a:buNone/>
            </a:pPr>
            <a:r>
              <a:rPr lang="en-US"/>
              <a:t>ALEX</a:t>
            </a:r>
            <a:endParaRPr/>
          </a:p>
        </p:txBody>
      </p:sp>
      <p:sp>
        <p:nvSpPr>
          <p:cNvPr id="271" name="Google Shape;27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d7b9058fb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1d7b9058fb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Frequency is 1. Do usual shenanigans. ALEX</a:t>
            </a:r>
            <a:endParaRPr/>
          </a:p>
        </p:txBody>
      </p:sp>
      <p:sp>
        <p:nvSpPr>
          <p:cNvPr id="281" name="Google Shape;281;g11d7b9058fb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Is input signal is just cosines and sines, just split them into e^ terms then match the coefficients. Otherwise use the formulae. Converting from one to the other is simple by formulae as well.</a:t>
            </a:r>
            <a:endParaRPr/>
          </a:p>
        </p:txBody>
      </p:sp>
      <p:sp>
        <p:nvSpPr>
          <p:cNvPr id="289" name="Google Shape;28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Sin(1/x) has infinite discontinuities (but also isn’t periodic anyway)</a:t>
            </a:r>
            <a:endParaRPr/>
          </a:p>
        </p:txBody>
      </p:sp>
      <p:sp>
        <p:nvSpPr>
          <p:cNvPr id="304" name="Google Shape;30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1d7b9058fb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1d7b9058fb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Be lazy, match terms</a:t>
            </a:r>
            <a:endParaRPr/>
          </a:p>
        </p:txBody>
      </p:sp>
      <p:sp>
        <p:nvSpPr>
          <p:cNvPr id="321" name="Google Shape;321;g11d7b9058fb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1d7b9058fb_2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1d7b9058fb_2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Does not exist! x(t) is not periodic.</a:t>
            </a:r>
            <a:endParaRPr/>
          </a:p>
        </p:txBody>
      </p:sp>
      <p:sp>
        <p:nvSpPr>
          <p:cNvPr id="330" name="Google Shape;330;g11d7b9058fb_2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Only n = 0, 1, 2 survives, so write out those terms and you’re done.</a:t>
            </a:r>
            <a:endParaRPr/>
          </a:p>
        </p:txBody>
      </p:sp>
      <p:sp>
        <p:nvSpPr>
          <p:cNvPr id="339" name="Google Shape;33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1d7b9058fb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1d7b9058fb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11d7b9058fb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d7b9058fb_2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1d7b9058fb_2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g11d7b9058fb_2_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1d7b9058fb_2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1d7b9058fb_2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11d7b9058fb_2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1d7b9058fb_2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1d7b9058fb_2_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g11d7b9058fb_2_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1d7b9058fb_2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1d7b9058fb_2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g11d7b9058fb_2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1d7b9058fb_2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1d7b9058fb_2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g11d7b9058fb_2_1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d7b9058fb_2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d7b9058fb_2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11d7b9058fb_2_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1d7b9058fb_2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1d7b9058fb_2_1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g11d7b9058fb_2_1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1d7b9058fb_2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1d7b9058fb_2_1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g11d7b9058fb_2_1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1d7b9058fb_2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1d7b9058fb_2_1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11d7b9058fb_2_1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d7b9058fb_2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d7b9058fb_2_1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11d7b9058fb_2_1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1d7b9058fb_2_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1d7b9058fb_2_1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g11d7b9058fb_2_1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1d7b9058fb_2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1d7b9058fb_2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g11d7b9058fb_2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1d7b9058fb_2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1d7b9058fb_2_2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11d7b9058fb_2_2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1d7b9058fb_2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1d7b9058fb_2_2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11d7b9058fb_2_2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1d7b9058fb_2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11d7b9058fb_2_2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g11d7b9058fb_2_2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1d7b9058fb_2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1d7b9058fb_2_2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g11d7b9058fb_2_2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1d7b9058fb_2_2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11d7b9058fb_2_2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g11d7b9058fb_2_2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11d7b9058fb_2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11d7b9058fb_2_2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g11d7b9058fb_2_2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1d7b9058fb_2_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11d7b9058fb_2_2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g11d7b9058fb_2_2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1d7b9058fb_2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1d7b9058fb_2_2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g11d7b9058fb_2_2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d7b9058fb_2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d7b9058fb_2_2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g11d7b9058fb_2_2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1d7b9058fb_2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1d7b9058fb_2_3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11d7b9058fb_2_3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1d7b9058fb_2_3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11d7b9058fb_2_3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g11d7b9058fb_2_3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1d7b9058fb_2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1d7b9058fb_2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g11d7b9058fb_2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1d7b9058fb_2_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11d7b9058fb_2_3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g11d7b9058fb_2_3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11d7b9058fb_2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11d7b9058fb_2_3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g11d7b9058fb_2_3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1e84d7adc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1e84d7adc0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g11e84d7adc0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11e84d7adc0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11e84d7adc0_1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g11e84d7adc0_1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11e84d7adc0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11e84d7adc0_1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g11e84d7adc0_1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11e84d7adc0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11e84d7adc0_1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g11e84d7adc0_1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11e84d7adc0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11e84d7adc0_1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g11e84d7adc0_1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1d7b9058fb_2_3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1d7b9058fb_2_3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g11d7b9058fb_2_3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1d7b9058fb_2_4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1d7b9058fb_2_4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g11d7b9058fb_2_40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11d7b9058fb_2_4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11d7b9058fb_2_4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g11d7b9058fb_2_4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11d7b9058fb_2_4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11d7b9058fb_2_4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g11d7b9058fb_2_4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11d7b9058fb_2_4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11d7b9058fb_2_4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g11d7b9058fb_2_4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3" name="Google Shape;77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 name="Google Shape;78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3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4"/>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4"/>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3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34"/>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3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3" name="Shape 33"/>
        <p:cNvGrpSpPr/>
        <p:nvPr/>
      </p:nvGrpSpPr>
      <p:grpSpPr>
        <a:xfrm>
          <a:off x="0" y="0"/>
          <a:ext cx="0" cy="0"/>
          <a:chOff x="0" y="0"/>
          <a:chExt cx="0" cy="0"/>
        </a:xfrm>
      </p:grpSpPr>
      <p:sp>
        <p:nvSpPr>
          <p:cNvPr id="34" name="Google Shape;34;p3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9" name="Shape 39"/>
        <p:cNvGrpSpPr/>
        <p:nvPr/>
      </p:nvGrpSpPr>
      <p:grpSpPr>
        <a:xfrm>
          <a:off x="0" y="0"/>
          <a:ext cx="0" cy="0"/>
          <a:chOff x="0" y="0"/>
          <a:chExt cx="0" cy="0"/>
        </a:xfrm>
      </p:grpSpPr>
      <p:sp>
        <p:nvSpPr>
          <p:cNvPr id="40" name="Google Shape;40;p3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7"/>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7"/>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4" name="Google Shape;44;p3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7" name="Google Shape;47;p3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3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38"/>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38"/>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3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3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9"/>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39"/>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39"/>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39"/>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3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4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4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41"/>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1"/>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1"/>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1"/>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41"/>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41"/>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1"/>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42"/>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2"/>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2"/>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42"/>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83" name="Google Shape;83;p42"/>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4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4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43"/>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4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4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4"/>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44"/>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4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33"/>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3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3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3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33"/>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jpg"/><Relationship Id="rId4" Type="http://schemas.openxmlformats.org/officeDocument/2006/relationships/image" Target="../media/image21.pn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4.png"/><Relationship Id="rId8"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5.png"/><Relationship Id="rId5"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5.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image" Target="../media/image3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5.png"/><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4.png"/><Relationship Id="rId6" Type="http://schemas.openxmlformats.org/officeDocument/2006/relationships/image" Target="../media/image4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5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5.png"/><Relationship Id="rId4" Type="http://schemas.openxmlformats.org/officeDocument/2006/relationships/image" Target="../media/image48.png"/><Relationship Id="rId5" Type="http://schemas.openxmlformats.org/officeDocument/2006/relationships/image" Target="../media/image5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4.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0.png"/><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5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5.png"/><Relationship Id="rId4" Type="http://schemas.openxmlformats.org/officeDocument/2006/relationships/image" Target="../media/image63.png"/><Relationship Id="rId5" Type="http://schemas.openxmlformats.org/officeDocument/2006/relationships/image" Target="../media/image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7.png"/><Relationship Id="rId6" Type="http://schemas.openxmlformats.org/officeDocument/2006/relationships/image" Target="../media/image52.png"/><Relationship Id="rId7"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3.png"/><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3.pn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3.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3.pn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3.png"/><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3.png"/><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3.pn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3.png"/><Relationship Id="rId4" Type="http://schemas.openxmlformats.org/officeDocument/2006/relationships/image" Target="../media/image5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3.png"/><Relationship Id="rId4" Type="http://schemas.openxmlformats.org/officeDocument/2006/relationships/image" Target="../media/image56.png"/><Relationship Id="rId5" Type="http://schemas.openxmlformats.org/officeDocument/2006/relationships/image" Target="../media/image61.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6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3.png"/><Relationship Id="rId4" Type="http://schemas.openxmlformats.org/officeDocument/2006/relationships/image" Target="../media/image56.png"/><Relationship Id="rId5" Type="http://schemas.openxmlformats.org/officeDocument/2006/relationships/image" Target="../media/image59.png"/><Relationship Id="rId6" Type="http://schemas.openxmlformats.org/officeDocument/2006/relationships/image" Target="../media/image6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6.png"/><Relationship Id="rId4" Type="http://schemas.openxmlformats.org/officeDocument/2006/relationships/image" Target="../media/image61.png"/><Relationship Id="rId11" Type="http://schemas.openxmlformats.org/officeDocument/2006/relationships/image" Target="../media/image66.png"/><Relationship Id="rId10" Type="http://schemas.openxmlformats.org/officeDocument/2006/relationships/image" Target="../media/image64.png"/><Relationship Id="rId9" Type="http://schemas.openxmlformats.org/officeDocument/2006/relationships/image" Target="../media/image62.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60.png"/><Relationship Id="rId8" Type="http://schemas.openxmlformats.org/officeDocument/2006/relationships/image" Target="../media/image6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67.png"/><Relationship Id="rId4" Type="http://schemas.openxmlformats.org/officeDocument/2006/relationships/image" Target="../media/image62.png"/><Relationship Id="rId9" Type="http://schemas.openxmlformats.org/officeDocument/2006/relationships/image" Target="../media/image65.png"/><Relationship Id="rId5" Type="http://schemas.openxmlformats.org/officeDocument/2006/relationships/image" Target="../media/image64.png"/><Relationship Id="rId6" Type="http://schemas.openxmlformats.org/officeDocument/2006/relationships/image" Target="../media/image66.png"/><Relationship Id="rId7" Type="http://schemas.openxmlformats.org/officeDocument/2006/relationships/image" Target="../media/image46.png"/><Relationship Id="rId8"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79.png"/><Relationship Id="rId4" Type="http://schemas.openxmlformats.org/officeDocument/2006/relationships/image" Target="../media/image7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65.png"/><Relationship Id="rId4" Type="http://schemas.openxmlformats.org/officeDocument/2006/relationships/image" Target="../media/image69.png"/><Relationship Id="rId5" Type="http://schemas.openxmlformats.org/officeDocument/2006/relationships/image" Target="../media/image71.png"/><Relationship Id="rId6" Type="http://schemas.openxmlformats.org/officeDocument/2006/relationships/image" Target="../media/image7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9.png"/><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5.png"/><Relationship Id="rId4" Type="http://schemas.openxmlformats.org/officeDocument/2006/relationships/image" Target="../media/image7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5.png"/><Relationship Id="rId4" Type="http://schemas.openxmlformats.org/officeDocument/2006/relationships/image" Target="../media/image75.png"/><Relationship Id="rId10" Type="http://schemas.openxmlformats.org/officeDocument/2006/relationships/image" Target="../media/image83.png"/><Relationship Id="rId9" Type="http://schemas.openxmlformats.org/officeDocument/2006/relationships/image" Target="../media/image73.png"/><Relationship Id="rId5" Type="http://schemas.openxmlformats.org/officeDocument/2006/relationships/image" Target="../media/image85.png"/><Relationship Id="rId6" Type="http://schemas.openxmlformats.org/officeDocument/2006/relationships/image" Target="../media/image46.png"/><Relationship Id="rId7" Type="http://schemas.openxmlformats.org/officeDocument/2006/relationships/image" Target="../media/image76.png"/><Relationship Id="rId8" Type="http://schemas.openxmlformats.org/officeDocument/2006/relationships/image" Target="../media/image7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5.png"/><Relationship Id="rId4" Type="http://schemas.openxmlformats.org/officeDocument/2006/relationships/image" Target="../media/image75.png"/><Relationship Id="rId5" Type="http://schemas.openxmlformats.org/officeDocument/2006/relationships/image" Target="../media/image7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5.png"/><Relationship Id="rId4" Type="http://schemas.openxmlformats.org/officeDocument/2006/relationships/image" Target="../media/image8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5.png"/><Relationship Id="rId4" Type="http://schemas.openxmlformats.org/officeDocument/2006/relationships/image" Target="../media/image81.png"/><Relationship Id="rId5" Type="http://schemas.openxmlformats.org/officeDocument/2006/relationships/image" Target="../media/image74.png"/><Relationship Id="rId6" Type="http://schemas.openxmlformats.org/officeDocument/2006/relationships/image" Target="../media/image82.png"/><Relationship Id="rId7" Type="http://schemas.openxmlformats.org/officeDocument/2006/relationships/image" Target="../media/image90.png"/><Relationship Id="rId8" Type="http://schemas.openxmlformats.org/officeDocument/2006/relationships/image" Target="../media/image9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5.png"/><Relationship Id="rId4" Type="http://schemas.openxmlformats.org/officeDocument/2006/relationships/image" Target="../media/image80.png"/><Relationship Id="rId5" Type="http://schemas.openxmlformats.org/officeDocument/2006/relationships/image" Target="../media/image8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8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87.png"/><Relationship Id="rId6" Type="http://schemas.openxmlformats.org/officeDocument/2006/relationships/image" Target="../media/image10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91.png"/><Relationship Id="rId4" Type="http://schemas.openxmlformats.org/officeDocument/2006/relationships/image" Target="../media/image100.png"/><Relationship Id="rId5" Type="http://schemas.openxmlformats.org/officeDocument/2006/relationships/image" Target="../media/image9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93.png"/><Relationship Id="rId4" Type="http://schemas.openxmlformats.org/officeDocument/2006/relationships/image" Target="../media/image9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9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9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98.png"/><Relationship Id="rId4" Type="http://schemas.openxmlformats.org/officeDocument/2006/relationships/image" Target="../media/image9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05.png"/><Relationship Id="rId4" Type="http://schemas.openxmlformats.org/officeDocument/2006/relationships/image" Target="../media/image10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648638" y="776097"/>
            <a:ext cx="10961225" cy="3566160"/>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262626"/>
              </a:buClr>
              <a:buSzPts val="7200"/>
              <a:buFont typeface="Cambria"/>
              <a:buNone/>
            </a:pPr>
            <a:r>
              <a:rPr lang="en-US" sz="7200">
                <a:latin typeface="Cambria"/>
                <a:ea typeface="Cambria"/>
                <a:cs typeface="Cambria"/>
                <a:sym typeface="Cambria"/>
              </a:rPr>
              <a:t>ECE 210 Review Session</a:t>
            </a:r>
            <a:endParaRPr/>
          </a:p>
        </p:txBody>
      </p:sp>
      <p:sp>
        <p:nvSpPr>
          <p:cNvPr id="106" name="Google Shape;106;p1"/>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a:latin typeface="Times New Roman"/>
                <a:ea typeface="Times New Roman"/>
                <a:cs typeface="Times New Roman"/>
                <a:sym typeface="Times New Roman"/>
              </a:rPr>
              <a:t>MIDTERM TWO</a:t>
            </a:r>
            <a:endParaRPr/>
          </a:p>
          <a:p>
            <a:pPr indent="0" lvl="0" marL="0" rtl="0" algn="l">
              <a:lnSpc>
                <a:spcPct val="90000"/>
              </a:lnSpc>
              <a:spcBef>
                <a:spcPts val="1400"/>
              </a:spcBef>
              <a:spcAft>
                <a:spcPts val="0"/>
              </a:spcAft>
              <a:buSzPts val="2400"/>
              <a:buNone/>
            </a:pPr>
            <a:r>
              <a:rPr lang="en-US">
                <a:latin typeface="Times New Roman"/>
                <a:ea typeface="Times New Roman"/>
                <a:cs typeface="Times New Roman"/>
                <a:sym typeface="Times New Roman"/>
              </a:rPr>
              <a:t>ALEX ZHANG, JASON FLANAGAN, GRANT MCKECHNIE</a:t>
            </a:r>
            <a:endParaRPr/>
          </a:p>
        </p:txBody>
      </p:sp>
      <p:sp>
        <p:nvSpPr>
          <p:cNvPr id="107" name="Google Shape;107;p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400"/>
              <a:t>ECE ILLINOIS</a:t>
            </a:r>
            <a:endParaRPr/>
          </a:p>
        </p:txBody>
      </p:sp>
      <p:pic>
        <p:nvPicPr>
          <p:cNvPr id="108" name="Google Shape;108;p1"/>
          <p:cNvPicPr preferRelativeResize="0"/>
          <p:nvPr/>
        </p:nvPicPr>
        <p:blipFill rotWithShape="1">
          <a:blip r:embed="rId3">
            <a:alphaModFix/>
          </a:blip>
          <a:srcRect b="0" l="0" r="0" t="0"/>
          <a:stretch/>
        </p:blipFill>
        <p:spPr>
          <a:xfrm>
            <a:off x="4824412" y="758952"/>
            <a:ext cx="2543175" cy="1800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1d7b9058fb_0_21"/>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The Path</a:t>
            </a:r>
            <a:endParaRPr/>
          </a:p>
        </p:txBody>
      </p:sp>
      <p:sp>
        <p:nvSpPr>
          <p:cNvPr id="115" name="Google Shape;115;g11d7b9058fb_0_21"/>
          <p:cNvSpPr txBox="1"/>
          <p:nvPr>
            <p:ph idx="1" type="body"/>
          </p:nvPr>
        </p:nvSpPr>
        <p:spPr>
          <a:xfrm>
            <a:off x="643950" y="1845725"/>
            <a:ext cx="10511700" cy="4023300"/>
          </a:xfrm>
          <a:prstGeom prst="rect">
            <a:avLst/>
          </a:prstGeom>
        </p:spPr>
        <p:txBody>
          <a:bodyPr anchorCtr="0" anchor="t" bIns="45700" lIns="0" spcFirstLastPara="1" rIns="0" wrap="square" tIns="45700">
            <a:noAutofit/>
          </a:bodyPr>
          <a:lstStyle/>
          <a:p>
            <a:pPr indent="-355600" lvl="0" marL="457200" rtl="0" algn="l">
              <a:spcBef>
                <a:spcPts val="1200"/>
              </a:spcBef>
              <a:spcAft>
                <a:spcPts val="0"/>
              </a:spcAft>
              <a:buSzPts val="2000"/>
              <a:buAutoNum type="arabicPeriod"/>
            </a:pPr>
            <a:r>
              <a:rPr lang="en-US" sz="2200"/>
              <a:t>Circuits!</a:t>
            </a:r>
            <a:endParaRPr sz="2200"/>
          </a:p>
          <a:p>
            <a:pPr indent="-355600" lvl="0" marL="457200" rtl="0" algn="l">
              <a:spcBef>
                <a:spcPts val="0"/>
              </a:spcBef>
              <a:spcAft>
                <a:spcPts val="0"/>
              </a:spcAft>
              <a:buSzPts val="2000"/>
              <a:buAutoNum type="arabicPeriod"/>
            </a:pPr>
            <a:r>
              <a:rPr lang="en-US" sz="2200"/>
              <a:t>Generalize circuits into arbitrary linear systems</a:t>
            </a:r>
            <a:endParaRPr sz="2200"/>
          </a:p>
          <a:p>
            <a:pPr indent="-355600" lvl="0" marL="457200" rtl="0" algn="l">
              <a:spcBef>
                <a:spcPts val="0"/>
              </a:spcBef>
              <a:spcAft>
                <a:spcPts val="0"/>
              </a:spcAft>
              <a:buSzPts val="2000"/>
              <a:buAutoNum type="arabicPeriod"/>
            </a:pPr>
            <a:r>
              <a:rPr lang="en-US" sz="2200"/>
              <a:t>Analyzing linear systems by hand is painful (so much algebra, time derivatives…)</a:t>
            </a:r>
            <a:endParaRPr sz="2200"/>
          </a:p>
          <a:p>
            <a:pPr indent="-355600" lvl="1" marL="914400" rtl="0" algn="l">
              <a:spcBef>
                <a:spcPts val="0"/>
              </a:spcBef>
              <a:spcAft>
                <a:spcPts val="0"/>
              </a:spcAft>
              <a:buSzPts val="2000"/>
              <a:buAutoNum type="alphaLcPeriod"/>
            </a:pPr>
            <a:r>
              <a:rPr lang="en-US" sz="2000"/>
              <a:t>Three capacitors in a circuit = 3rd order differential equation. YUCK</a:t>
            </a:r>
            <a:endParaRPr sz="2000"/>
          </a:p>
          <a:p>
            <a:pPr indent="-355600" lvl="0" marL="457200" rtl="0" algn="l">
              <a:spcBef>
                <a:spcPts val="0"/>
              </a:spcBef>
              <a:spcAft>
                <a:spcPts val="0"/>
              </a:spcAft>
              <a:buSzPts val="2000"/>
              <a:buAutoNum type="arabicPeriod"/>
            </a:pPr>
            <a:r>
              <a:rPr lang="en-US" sz="2200"/>
              <a:t>Introducing the frequency domain!</a:t>
            </a:r>
            <a:endParaRPr sz="2200"/>
          </a:p>
          <a:p>
            <a:pPr indent="-355600" lvl="1" marL="914400" rtl="0" algn="l">
              <a:spcBef>
                <a:spcPts val="0"/>
              </a:spcBef>
              <a:spcAft>
                <a:spcPts val="0"/>
              </a:spcAft>
              <a:buSzPts val="2000"/>
              <a:buAutoNum type="alphaLcPeriod"/>
            </a:pPr>
            <a:r>
              <a:rPr lang="en-US" sz="2000"/>
              <a:t>This is a pivotal moment. You will live and breathe in this domain for at least the remainder of your time here. The Fourier domain pops up in signal processing, power transfer, energy, communications, matrix/vector multiplication, antenna arrays, and so much more.</a:t>
            </a:r>
            <a:endParaRPr sz="2000"/>
          </a:p>
          <a:p>
            <a:pPr indent="-355600" lvl="1" marL="914400" rtl="0" algn="l">
              <a:spcBef>
                <a:spcPts val="0"/>
              </a:spcBef>
              <a:spcAft>
                <a:spcPts val="0"/>
              </a:spcAft>
              <a:buSzPts val="2000"/>
              <a:buAutoNum type="alphaLcPeriod"/>
            </a:pPr>
            <a:r>
              <a:rPr lang="en-US" sz="2000"/>
              <a:t>So powerful that even quantum computing still uses it.</a:t>
            </a:r>
            <a:endParaRPr sz="2000"/>
          </a:p>
          <a:p>
            <a:pPr indent="-355600" lvl="1" marL="914400" rtl="0" algn="l">
              <a:spcBef>
                <a:spcPts val="0"/>
              </a:spcBef>
              <a:spcAft>
                <a:spcPts val="0"/>
              </a:spcAft>
              <a:buSzPts val="2000"/>
              <a:buAutoNum type="alphaLcPeriod"/>
            </a:pPr>
            <a:r>
              <a:rPr lang="en-US" sz="2000"/>
              <a:t>The only 3-of-5 for EEs that doesn’t feature the Fourier domain is ECE391. Boring class anyway.</a:t>
            </a:r>
            <a:endParaRPr sz="2000"/>
          </a:p>
          <a:p>
            <a:pPr indent="-355600" lvl="0" marL="457200" rtl="0" algn="l">
              <a:spcBef>
                <a:spcPts val="0"/>
              </a:spcBef>
              <a:spcAft>
                <a:spcPts val="0"/>
              </a:spcAft>
              <a:buSzPts val="2000"/>
              <a:buAutoNum type="arabicPeriod"/>
            </a:pPr>
            <a:r>
              <a:rPr lang="en-US" sz="2200"/>
              <a:t>Phasors - single sinusoid, steady state only</a:t>
            </a:r>
            <a:endParaRPr sz="2200"/>
          </a:p>
          <a:p>
            <a:pPr indent="-355600" lvl="0" marL="457200" rtl="0" algn="l">
              <a:spcBef>
                <a:spcPts val="0"/>
              </a:spcBef>
              <a:spcAft>
                <a:spcPts val="0"/>
              </a:spcAft>
              <a:buSzPts val="2000"/>
              <a:buAutoNum type="arabicPeriod"/>
            </a:pPr>
            <a:r>
              <a:rPr lang="en-US" sz="2200"/>
              <a:t>Fourier series: Periodic functions, steady state only</a:t>
            </a:r>
            <a:endParaRPr sz="2200"/>
          </a:p>
          <a:p>
            <a:pPr indent="-355600" lvl="0" marL="457200" rtl="0" algn="l">
              <a:spcBef>
                <a:spcPts val="0"/>
              </a:spcBef>
              <a:spcAft>
                <a:spcPts val="0"/>
              </a:spcAft>
              <a:buSzPts val="2000"/>
              <a:buAutoNum type="arabicPeriod"/>
            </a:pPr>
            <a:r>
              <a:rPr lang="en-US" sz="2200"/>
              <a:t>Fourier Transform: Almost all functions, steady state only</a:t>
            </a:r>
            <a:endParaRPr sz="2200"/>
          </a:p>
          <a:p>
            <a:pPr indent="-355600" lvl="0" marL="457200" rtl="0" algn="l">
              <a:spcBef>
                <a:spcPts val="0"/>
              </a:spcBef>
              <a:spcAft>
                <a:spcPts val="0"/>
              </a:spcAft>
              <a:buSzPts val="2000"/>
              <a:buAutoNum type="arabicPeriod"/>
            </a:pPr>
            <a:r>
              <a:rPr lang="en-US" sz="2200"/>
              <a:t>Laplace Transform: Almost all functions, transient and steady state solutions</a:t>
            </a:r>
            <a:endParaRPr sz="2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animEffect filter="fade" transition="in">
                                      <p:cBhvr>
                                        <p:cTn dur="1000"/>
                                        <p:tgtEl>
                                          <p:spTgt spid="1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animEffect filter="fade" transition="in">
                                      <p:cBhvr>
                                        <p:cTn dur="1000"/>
                                        <p:tgtEl>
                                          <p:spTgt spid="1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animEffect filter="fade" transition="in">
                                      <p:cBhvr>
                                        <p:cTn dur="1000"/>
                                        <p:tgtEl>
                                          <p:spTgt spid="1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animEffect filter="fade" transition="in">
                                      <p:cBhvr>
                                        <p:cTn dur="1000"/>
                                        <p:tgtEl>
                                          <p:spTgt spid="1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animEffect filter="fade" transition="in">
                                      <p:cBhvr>
                                        <p:cTn dur="1000"/>
                                        <p:tgtEl>
                                          <p:spTgt spid="1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5" st="5"/>
                                            </p:txEl>
                                          </p:spTgt>
                                        </p:tgtEl>
                                        <p:attrNameLst>
                                          <p:attrName>style.visibility</p:attrName>
                                        </p:attrNameLst>
                                      </p:cBhvr>
                                      <p:to>
                                        <p:strVal val="visible"/>
                                      </p:to>
                                    </p:set>
                                    <p:animEffect filter="fade" transition="in">
                                      <p:cBhvr>
                                        <p:cTn dur="1000"/>
                                        <p:tgtEl>
                                          <p:spTgt spid="1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6" st="6"/>
                                            </p:txEl>
                                          </p:spTgt>
                                        </p:tgtEl>
                                        <p:attrNameLst>
                                          <p:attrName>style.visibility</p:attrName>
                                        </p:attrNameLst>
                                      </p:cBhvr>
                                      <p:to>
                                        <p:strVal val="visible"/>
                                      </p:to>
                                    </p:set>
                                    <p:animEffect filter="fade" transition="in">
                                      <p:cBhvr>
                                        <p:cTn dur="1000"/>
                                        <p:tgtEl>
                                          <p:spTgt spid="1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7" st="7"/>
                                            </p:txEl>
                                          </p:spTgt>
                                        </p:tgtEl>
                                        <p:attrNameLst>
                                          <p:attrName>style.visibility</p:attrName>
                                        </p:attrNameLst>
                                      </p:cBhvr>
                                      <p:to>
                                        <p:strVal val="visible"/>
                                      </p:to>
                                    </p:set>
                                    <p:animEffect filter="fade" transition="in">
                                      <p:cBhvr>
                                        <p:cTn dur="1000"/>
                                        <p:tgtEl>
                                          <p:spTgt spid="11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8" st="8"/>
                                            </p:txEl>
                                          </p:spTgt>
                                        </p:tgtEl>
                                        <p:attrNameLst>
                                          <p:attrName>style.visibility</p:attrName>
                                        </p:attrNameLst>
                                      </p:cBhvr>
                                      <p:to>
                                        <p:strVal val="visible"/>
                                      </p:to>
                                    </p:set>
                                    <p:animEffect filter="fade" transition="in">
                                      <p:cBhvr>
                                        <p:cTn dur="1000"/>
                                        <p:tgtEl>
                                          <p:spTgt spid="11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9" st="9"/>
                                            </p:txEl>
                                          </p:spTgt>
                                        </p:tgtEl>
                                        <p:attrNameLst>
                                          <p:attrName>style.visibility</p:attrName>
                                        </p:attrNameLst>
                                      </p:cBhvr>
                                      <p:to>
                                        <p:strVal val="visible"/>
                                      </p:to>
                                    </p:set>
                                    <p:animEffect filter="fade" transition="in">
                                      <p:cBhvr>
                                        <p:cTn dur="1000"/>
                                        <p:tgtEl>
                                          <p:spTgt spid="11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10" st="10"/>
                                            </p:txEl>
                                          </p:spTgt>
                                        </p:tgtEl>
                                        <p:attrNameLst>
                                          <p:attrName>style.visibility</p:attrName>
                                        </p:attrNameLst>
                                      </p:cBhvr>
                                      <p:to>
                                        <p:strVal val="visible"/>
                                      </p:to>
                                    </p:set>
                                    <p:animEffect filter="fade" transition="in">
                                      <p:cBhvr>
                                        <p:cTn dur="1000"/>
                                        <p:tgtEl>
                                          <p:spTgt spid="11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11" st="11"/>
                                            </p:txEl>
                                          </p:spTgt>
                                        </p:tgtEl>
                                        <p:attrNameLst>
                                          <p:attrName>style.visibility</p:attrName>
                                        </p:attrNameLst>
                                      </p:cBhvr>
                                      <p:to>
                                        <p:strVal val="visible"/>
                                      </p:to>
                                    </p:set>
                                    <p:animEffect filter="fade" transition="in">
                                      <p:cBhvr>
                                        <p:cTn dur="1000"/>
                                        <p:tgtEl>
                                          <p:spTgt spid="115">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RL, RC, RLC Circuit</a:t>
            </a:r>
            <a:endParaRPr/>
          </a:p>
        </p:txBody>
      </p:sp>
      <p:sp>
        <p:nvSpPr>
          <p:cNvPr id="121" name="Google Shape;121;p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RL and RC circuits require setting up and solving a first-order ODE</a:t>
            </a:r>
            <a:endParaRPr/>
          </a:p>
          <a:p>
            <a:pPr indent="-127000" lvl="0" marL="91440" rtl="0" algn="l">
              <a:lnSpc>
                <a:spcPct val="90000"/>
              </a:lnSpc>
              <a:spcBef>
                <a:spcPts val="1400"/>
              </a:spcBef>
              <a:spcAft>
                <a:spcPts val="0"/>
              </a:spcAft>
              <a:buSzPts val="2000"/>
              <a:buChar char=" "/>
            </a:pPr>
            <a:r>
              <a:rPr lang="en-US"/>
              <a:t>▪ RLC circuits require setting up and solving a second-order</a:t>
            </a:r>
            <a:endParaRPr/>
          </a:p>
          <a:p>
            <a:pPr indent="0" lvl="0" marL="0" rtl="0" algn="l">
              <a:lnSpc>
                <a:spcPct val="90000"/>
              </a:lnSpc>
              <a:spcBef>
                <a:spcPts val="1400"/>
              </a:spcBef>
              <a:spcAft>
                <a:spcPts val="0"/>
              </a:spcAft>
              <a:buSzPts val="2000"/>
              <a:buNone/>
            </a:pPr>
            <a:r>
              <a:rPr lang="en-US"/>
              <a:t> At the </a:t>
            </a:r>
            <a:r>
              <a:rPr b="1" lang="en-US"/>
              <a:t>steady state</a:t>
            </a:r>
            <a:r>
              <a:rPr lang="en-US"/>
              <a:t>,</a:t>
            </a:r>
            <a:endParaRPr/>
          </a:p>
          <a:p>
            <a:pPr indent="-182880" lvl="1" marL="384048" rtl="0" algn="l">
              <a:lnSpc>
                <a:spcPct val="90000"/>
              </a:lnSpc>
              <a:spcBef>
                <a:spcPts val="400"/>
              </a:spcBef>
              <a:spcAft>
                <a:spcPts val="0"/>
              </a:spcAft>
              <a:buSzPts val="2000"/>
              <a:buChar char="◦"/>
            </a:pPr>
            <a:r>
              <a:rPr lang="en-US" sz="2000"/>
              <a:t>Capacitors act as open circuits</a:t>
            </a:r>
            <a:endParaRPr/>
          </a:p>
          <a:p>
            <a:pPr indent="-182880" lvl="1" marL="384048" rtl="0" algn="l">
              <a:lnSpc>
                <a:spcPct val="90000"/>
              </a:lnSpc>
              <a:spcBef>
                <a:spcPts val="600"/>
              </a:spcBef>
              <a:spcAft>
                <a:spcPts val="0"/>
              </a:spcAft>
              <a:buSzPts val="2000"/>
              <a:buChar char="◦"/>
            </a:pPr>
            <a:r>
              <a:rPr lang="en-US" sz="2000"/>
              <a:t>Inductors act as wires</a:t>
            </a:r>
            <a:endParaRPr/>
          </a:p>
          <a:p>
            <a:pPr indent="-127000" lvl="0" marL="91440" rtl="0" algn="l">
              <a:lnSpc>
                <a:spcPct val="90000"/>
              </a:lnSpc>
              <a:spcBef>
                <a:spcPts val="1600"/>
              </a:spcBef>
              <a:spcAft>
                <a:spcPts val="0"/>
              </a:spcAft>
              <a:buSzPts val="2000"/>
              <a:buChar char=" "/>
            </a:pPr>
            <a:r>
              <a:rPr lang="en-US"/>
              <a:t>Continuous functions of time:</a:t>
            </a:r>
            <a:endParaRPr/>
          </a:p>
          <a:p>
            <a:pPr indent="-182880" lvl="1" marL="384048" rtl="0" algn="l">
              <a:lnSpc>
                <a:spcPct val="90000"/>
              </a:lnSpc>
              <a:spcBef>
                <a:spcPts val="400"/>
              </a:spcBef>
              <a:spcAft>
                <a:spcPts val="0"/>
              </a:spcAft>
              <a:buSzPts val="2000"/>
              <a:buChar char="◦"/>
            </a:pPr>
            <a:r>
              <a:rPr lang="en-US" sz="2000"/>
              <a:t>Voltage across a capacitor</a:t>
            </a:r>
            <a:endParaRPr/>
          </a:p>
          <a:p>
            <a:pPr indent="-182880" lvl="1" marL="384048" rtl="0" algn="l">
              <a:lnSpc>
                <a:spcPct val="90000"/>
              </a:lnSpc>
              <a:spcBef>
                <a:spcPts val="600"/>
              </a:spcBef>
              <a:spcAft>
                <a:spcPts val="0"/>
              </a:spcAft>
              <a:buSzPts val="2000"/>
              <a:buChar char="◦"/>
            </a:pPr>
            <a:r>
              <a:rPr lang="en-US" sz="2000"/>
              <a:t>Current through an inductor</a:t>
            </a:r>
            <a:endParaRPr/>
          </a:p>
          <a:p>
            <a:pPr indent="0" lvl="0" marL="91440" rtl="0" algn="l">
              <a:lnSpc>
                <a:spcPct val="90000"/>
              </a:lnSpc>
              <a:spcBef>
                <a:spcPts val="1600"/>
              </a:spcBef>
              <a:spcAft>
                <a:spcPts val="0"/>
              </a:spcAft>
              <a:buSzPts val="2000"/>
              <a:buNone/>
            </a:pPr>
            <a:r>
              <a:t/>
            </a:r>
            <a:endParaRPr/>
          </a:p>
        </p:txBody>
      </p:sp>
      <p:sp>
        <p:nvSpPr>
          <p:cNvPr id="122" name="Google Shape;122;p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
        <p:nvSpPr>
          <p:cNvPr id="123" name="Google Shape;123;p2"/>
          <p:cNvSpPr txBox="1"/>
          <p:nvPr/>
        </p:nvSpPr>
        <p:spPr>
          <a:xfrm>
            <a:off x="5919537" y="3146835"/>
            <a:ext cx="4526400" cy="186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latin typeface="Calibri"/>
                <a:ea typeface="Calibri"/>
                <a:cs typeface="Calibri"/>
                <a:sym typeface="Calibri"/>
              </a:rPr>
              <a:t> </a:t>
            </a:r>
            <a:endParaRPr/>
          </a:p>
        </p:txBody>
      </p:sp>
      <p:pic>
        <p:nvPicPr>
          <p:cNvPr id="124" name="Google Shape;124;p2"/>
          <p:cNvPicPr preferRelativeResize="0"/>
          <p:nvPr/>
        </p:nvPicPr>
        <p:blipFill>
          <a:blip r:embed="rId3">
            <a:alphaModFix/>
          </a:blip>
          <a:stretch>
            <a:fillRect/>
          </a:stretch>
        </p:blipFill>
        <p:spPr>
          <a:xfrm>
            <a:off x="6356550" y="3358900"/>
            <a:ext cx="3929817" cy="24069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Second Order Differential Equations</a:t>
            </a:r>
            <a:endParaRPr/>
          </a:p>
        </p:txBody>
      </p:sp>
      <p:sp>
        <p:nvSpPr>
          <p:cNvPr id="130" name="Google Shape;130;p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
        <p:nvSpPr>
          <p:cNvPr id="131" name="Google Shape;131;p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pic>
        <p:nvPicPr>
          <p:cNvPr id="132" name="Google Shape;132;p3"/>
          <p:cNvPicPr preferRelativeResize="0"/>
          <p:nvPr/>
        </p:nvPicPr>
        <p:blipFill>
          <a:blip r:embed="rId3">
            <a:alphaModFix/>
          </a:blip>
          <a:stretch>
            <a:fillRect/>
          </a:stretch>
        </p:blipFill>
        <p:spPr>
          <a:xfrm>
            <a:off x="1097275" y="2061448"/>
            <a:ext cx="9476702" cy="38076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First and Second Order Circuits</a:t>
            </a:r>
            <a:endParaRPr/>
          </a:p>
        </p:txBody>
      </p:sp>
      <p:sp>
        <p:nvSpPr>
          <p:cNvPr id="138" name="Google Shape;138;p4"/>
          <p:cNvSpPr txBox="1"/>
          <p:nvPr>
            <p:ph idx="1" type="body"/>
          </p:nvPr>
        </p:nvSpPr>
        <p:spPr>
          <a:xfrm>
            <a:off x="1250066" y="1845734"/>
            <a:ext cx="9905614" cy="4450894"/>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sp>
        <p:nvSpPr>
          <p:cNvPr id="139" name="Google Shape;139;p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
        <p:nvSpPr>
          <p:cNvPr id="140" name="Google Shape;140;p4"/>
          <p:cNvSpPr txBox="1"/>
          <p:nvPr/>
        </p:nvSpPr>
        <p:spPr>
          <a:xfrm>
            <a:off x="3974054" y="4664327"/>
            <a:ext cx="4243892" cy="42627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pic>
        <p:nvPicPr>
          <p:cNvPr id="141" name="Google Shape;141;p4"/>
          <p:cNvPicPr preferRelativeResize="0"/>
          <p:nvPr/>
        </p:nvPicPr>
        <p:blipFill>
          <a:blip r:embed="rId3">
            <a:alphaModFix/>
          </a:blip>
          <a:stretch>
            <a:fillRect/>
          </a:stretch>
        </p:blipFill>
        <p:spPr>
          <a:xfrm>
            <a:off x="922975" y="2080972"/>
            <a:ext cx="8854225" cy="3980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y(t) expressions</a:t>
            </a:r>
            <a:endParaRPr/>
          </a:p>
        </p:txBody>
      </p:sp>
      <p:sp>
        <p:nvSpPr>
          <p:cNvPr id="147" name="Google Shape;147;p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sp>
        <p:nvSpPr>
          <p:cNvPr id="148" name="Google Shape;148;p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id="149" name="Google Shape;149;p5"/>
          <p:cNvPicPr preferRelativeResize="0"/>
          <p:nvPr/>
        </p:nvPicPr>
        <p:blipFill>
          <a:blip r:embed="rId3">
            <a:alphaModFix/>
          </a:blip>
          <a:stretch>
            <a:fillRect/>
          </a:stretch>
        </p:blipFill>
        <p:spPr>
          <a:xfrm>
            <a:off x="1234225" y="2328048"/>
            <a:ext cx="9584023" cy="3850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descr="A screenshot of a cell phone screen with text&#10;&#10;Description automatically generated" id="155" name="Google Shape;155;p6"/>
          <p:cNvPicPr preferRelativeResize="0"/>
          <p:nvPr/>
        </p:nvPicPr>
        <p:blipFill rotWithShape="1">
          <a:blip r:embed="rId3">
            <a:alphaModFix/>
          </a:blip>
          <a:srcRect b="0" l="0" r="0" t="0"/>
          <a:stretch/>
        </p:blipFill>
        <p:spPr>
          <a:xfrm>
            <a:off x="812726" y="1205703"/>
            <a:ext cx="10508990" cy="449772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Conceptual Questions (30 seconds each)</a:t>
            </a:r>
            <a:endParaRPr/>
          </a:p>
        </p:txBody>
      </p:sp>
      <p:pic>
        <p:nvPicPr>
          <p:cNvPr id="162" name="Google Shape;162;p19"/>
          <p:cNvPicPr preferRelativeResize="0"/>
          <p:nvPr>
            <p:ph idx="1" type="body"/>
          </p:nvPr>
        </p:nvPicPr>
        <p:blipFill rotWithShape="1">
          <a:blip r:embed="rId3">
            <a:alphaModFix/>
          </a:blip>
          <a:srcRect b="0" l="0" r="0" t="0"/>
          <a:stretch/>
        </p:blipFill>
        <p:spPr>
          <a:xfrm>
            <a:off x="218767" y="2042038"/>
            <a:ext cx="11754465" cy="667145"/>
          </a:xfrm>
          <a:prstGeom prst="rect">
            <a:avLst/>
          </a:prstGeom>
          <a:noFill/>
          <a:ln>
            <a:noFill/>
          </a:ln>
        </p:spPr>
      </p:pic>
      <p:sp>
        <p:nvSpPr>
          <p:cNvPr id="163" name="Google Shape;163;p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
        <p:nvSpPr>
          <p:cNvPr id="164" name="Google Shape;164;p19"/>
          <p:cNvSpPr txBox="1"/>
          <p:nvPr/>
        </p:nvSpPr>
        <p:spPr>
          <a:xfrm>
            <a:off x="218767" y="4048761"/>
            <a:ext cx="1187902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 system converts its input f(t) = 64.27cos(2t+3000pi) + 20.3cos(4t) into a steady-state output </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y(t) = 1038sin(2t – 1.25pi). Is the system LTI? Why?</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Available Power</a:t>
            </a:r>
            <a:endParaRPr/>
          </a:p>
        </p:txBody>
      </p:sp>
      <p:pic>
        <p:nvPicPr>
          <p:cNvPr id="170" name="Google Shape;170;p8"/>
          <p:cNvPicPr preferRelativeResize="0"/>
          <p:nvPr>
            <p:ph idx="1" type="body"/>
          </p:nvPr>
        </p:nvPicPr>
        <p:blipFill rotWithShape="1">
          <a:blip r:embed="rId3">
            <a:alphaModFix/>
          </a:blip>
          <a:srcRect b="0" l="0" r="0" t="0"/>
          <a:stretch/>
        </p:blipFill>
        <p:spPr>
          <a:xfrm>
            <a:off x="266543" y="2082948"/>
            <a:ext cx="5447063" cy="3212371"/>
          </a:xfrm>
          <a:prstGeom prst="rect">
            <a:avLst/>
          </a:prstGeom>
          <a:noFill/>
          <a:ln>
            <a:noFill/>
          </a:ln>
        </p:spPr>
      </p:pic>
      <p:sp>
        <p:nvSpPr>
          <p:cNvPr id="171" name="Google Shape;171;p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
        <p:nvSpPr>
          <p:cNvPr id="172" name="Google Shape;172;p8"/>
          <p:cNvSpPr txBox="1"/>
          <p:nvPr/>
        </p:nvSpPr>
        <p:spPr>
          <a:xfrm>
            <a:off x="5505650" y="2675632"/>
            <a:ext cx="5650030" cy="461665"/>
          </a:xfrm>
          <a:prstGeom prst="rect">
            <a:avLst/>
          </a:prstGeom>
          <a:blipFill rotWithShape="1">
            <a:blip r:embed="rId4">
              <a:alphaModFix/>
            </a:blip>
            <a:stretch>
              <a:fillRect b="-29728" l="0" r="0" t="-810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73" name="Google Shape;173;p8"/>
          <p:cNvSpPr txBox="1"/>
          <p:nvPr/>
        </p:nvSpPr>
        <p:spPr>
          <a:xfrm>
            <a:off x="6599296" y="3720703"/>
            <a:ext cx="1483676" cy="801566"/>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Resonance</a:t>
            </a:r>
            <a:endParaRPr/>
          </a:p>
        </p:txBody>
      </p:sp>
      <p:sp>
        <p:nvSpPr>
          <p:cNvPr id="180" name="Google Shape;180;p10"/>
          <p:cNvSpPr txBox="1"/>
          <p:nvPr>
            <p:ph idx="1" type="body"/>
          </p:nvPr>
        </p:nvSpPr>
        <p:spPr>
          <a:xfrm>
            <a:off x="1097280" y="1845734"/>
            <a:ext cx="10058400" cy="4023360"/>
          </a:xfrm>
          <a:prstGeom prst="rect">
            <a:avLst/>
          </a:prstGeom>
          <a:blipFill rotWithShape="1">
            <a:blip r:embed="rId3">
              <a:alphaModFix/>
            </a:blip>
            <a:stretch>
              <a:fillRect b="0" l="-502" r="-1637" t="-1571"/>
            </a:stretch>
          </a:blip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sp>
        <p:nvSpPr>
          <p:cNvPr id="181" name="Google Shape;181;p1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11d7b9058fb_0_52"/>
          <p:cNvSpPr txBox="1"/>
          <p:nvPr>
            <p:ph type="title"/>
          </p:nvPr>
        </p:nvSpPr>
        <p:spPr>
          <a:xfrm>
            <a:off x="828330" y="-139222"/>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Filters</a:t>
            </a:r>
            <a:endParaRPr/>
          </a:p>
        </p:txBody>
      </p:sp>
      <p:pic>
        <p:nvPicPr>
          <p:cNvPr id="188" name="Google Shape;188;g11d7b9058fb_0_52"/>
          <p:cNvPicPr preferRelativeResize="0"/>
          <p:nvPr/>
        </p:nvPicPr>
        <p:blipFill>
          <a:blip r:embed="rId3">
            <a:alphaModFix/>
          </a:blip>
          <a:stretch>
            <a:fillRect/>
          </a:stretch>
        </p:blipFill>
        <p:spPr>
          <a:xfrm>
            <a:off x="7093526" y="875899"/>
            <a:ext cx="3710424" cy="2314268"/>
          </a:xfrm>
          <a:prstGeom prst="rect">
            <a:avLst/>
          </a:prstGeom>
          <a:noFill/>
          <a:ln>
            <a:noFill/>
          </a:ln>
        </p:spPr>
      </p:pic>
      <p:pic>
        <p:nvPicPr>
          <p:cNvPr id="189" name="Google Shape;189;g11d7b9058fb_0_52"/>
          <p:cNvPicPr preferRelativeResize="0"/>
          <p:nvPr/>
        </p:nvPicPr>
        <p:blipFill>
          <a:blip r:embed="rId4">
            <a:alphaModFix/>
          </a:blip>
          <a:stretch>
            <a:fillRect/>
          </a:stretch>
        </p:blipFill>
        <p:spPr>
          <a:xfrm>
            <a:off x="749876" y="1425778"/>
            <a:ext cx="5899745" cy="2314275"/>
          </a:xfrm>
          <a:prstGeom prst="rect">
            <a:avLst/>
          </a:prstGeom>
          <a:noFill/>
          <a:ln>
            <a:noFill/>
          </a:ln>
        </p:spPr>
      </p:pic>
      <p:pic>
        <p:nvPicPr>
          <p:cNvPr id="190" name="Google Shape;190;g11d7b9058fb_0_52"/>
          <p:cNvPicPr preferRelativeResize="0"/>
          <p:nvPr/>
        </p:nvPicPr>
        <p:blipFill>
          <a:blip r:embed="rId5">
            <a:alphaModFix/>
          </a:blip>
          <a:stretch>
            <a:fillRect/>
          </a:stretch>
        </p:blipFill>
        <p:spPr>
          <a:xfrm>
            <a:off x="6763563" y="3492725"/>
            <a:ext cx="4527200" cy="2816925"/>
          </a:xfrm>
          <a:prstGeom prst="rect">
            <a:avLst/>
          </a:prstGeom>
          <a:noFill/>
          <a:ln>
            <a:noFill/>
          </a:ln>
        </p:spPr>
      </p:pic>
      <p:pic>
        <p:nvPicPr>
          <p:cNvPr id="191" name="Google Shape;191;g11d7b9058fb_0_52"/>
          <p:cNvPicPr preferRelativeResize="0"/>
          <p:nvPr/>
        </p:nvPicPr>
        <p:blipFill>
          <a:blip r:embed="rId6">
            <a:alphaModFix/>
          </a:blip>
          <a:stretch>
            <a:fillRect/>
          </a:stretch>
        </p:blipFill>
        <p:spPr>
          <a:xfrm>
            <a:off x="1019863" y="1276088"/>
            <a:ext cx="5613875" cy="524275"/>
          </a:xfrm>
          <a:prstGeom prst="rect">
            <a:avLst/>
          </a:prstGeom>
          <a:noFill/>
          <a:ln>
            <a:noFill/>
          </a:ln>
        </p:spPr>
      </p:pic>
      <p:sp>
        <p:nvSpPr>
          <p:cNvPr id="192" name="Google Shape;192;g11d7b9058fb_0_52"/>
          <p:cNvSpPr txBox="1"/>
          <p:nvPr/>
        </p:nvSpPr>
        <p:spPr>
          <a:xfrm>
            <a:off x="1019875" y="3934000"/>
            <a:ext cx="68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(1)</a:t>
            </a:r>
            <a:endParaRPr>
              <a:latin typeface="Calibri"/>
              <a:ea typeface="Calibri"/>
              <a:cs typeface="Calibri"/>
              <a:sym typeface="Calibri"/>
            </a:endParaRPr>
          </a:p>
        </p:txBody>
      </p:sp>
      <p:sp>
        <p:nvSpPr>
          <p:cNvPr id="193" name="Google Shape;193;g11d7b9058fb_0_52"/>
          <p:cNvSpPr txBox="1"/>
          <p:nvPr/>
        </p:nvSpPr>
        <p:spPr>
          <a:xfrm>
            <a:off x="7705325" y="875900"/>
            <a:ext cx="68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(2)</a:t>
            </a:r>
            <a:endParaRPr>
              <a:latin typeface="Calibri"/>
              <a:ea typeface="Calibri"/>
              <a:cs typeface="Calibri"/>
              <a:sym typeface="Calibri"/>
            </a:endParaRPr>
          </a:p>
        </p:txBody>
      </p:sp>
      <p:sp>
        <p:nvSpPr>
          <p:cNvPr id="194" name="Google Shape;194;g11d7b9058fb_0_52"/>
          <p:cNvSpPr txBox="1"/>
          <p:nvPr/>
        </p:nvSpPr>
        <p:spPr>
          <a:xfrm>
            <a:off x="7151725" y="3740050"/>
            <a:ext cx="683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(3)</a:t>
            </a:r>
            <a:endParaRPr>
              <a:latin typeface="Calibri"/>
              <a:ea typeface="Calibri"/>
              <a:cs typeface="Calibri"/>
              <a:sym typeface="Calibri"/>
            </a:endParaRPr>
          </a:p>
        </p:txBody>
      </p:sp>
      <p:pic>
        <p:nvPicPr>
          <p:cNvPr id="195" name="Google Shape;195;g11d7b9058fb_0_52"/>
          <p:cNvPicPr preferRelativeResize="0"/>
          <p:nvPr/>
        </p:nvPicPr>
        <p:blipFill>
          <a:blip r:embed="rId7">
            <a:alphaModFix/>
          </a:blip>
          <a:stretch>
            <a:fillRect/>
          </a:stretch>
        </p:blipFill>
        <p:spPr>
          <a:xfrm>
            <a:off x="676150" y="4910368"/>
            <a:ext cx="5783674" cy="1204157"/>
          </a:xfrm>
          <a:prstGeom prst="rect">
            <a:avLst/>
          </a:prstGeom>
          <a:noFill/>
          <a:ln>
            <a:noFill/>
          </a:ln>
        </p:spPr>
      </p:pic>
      <p:pic>
        <p:nvPicPr>
          <p:cNvPr id="196" name="Google Shape;196;g11d7b9058fb_0_52"/>
          <p:cNvPicPr preferRelativeResize="0"/>
          <p:nvPr/>
        </p:nvPicPr>
        <p:blipFill>
          <a:blip r:embed="rId8">
            <a:alphaModFix/>
          </a:blip>
          <a:stretch>
            <a:fillRect/>
          </a:stretch>
        </p:blipFill>
        <p:spPr>
          <a:xfrm>
            <a:off x="365099" y="4039119"/>
            <a:ext cx="6094727" cy="8712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11d7b9058fb_1_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Steps to Find a Filter</a:t>
            </a:r>
            <a:endParaRPr/>
          </a:p>
        </p:txBody>
      </p:sp>
      <p:sp>
        <p:nvSpPr>
          <p:cNvPr id="203" name="Google Shape;203;g11d7b9058fb_1_0"/>
          <p:cNvSpPr txBox="1"/>
          <p:nvPr>
            <p:ph idx="1" type="body"/>
          </p:nvPr>
        </p:nvSpPr>
        <p:spPr>
          <a:xfrm>
            <a:off x="1097275" y="1845725"/>
            <a:ext cx="6203100" cy="4023300"/>
          </a:xfrm>
          <a:prstGeom prst="rect">
            <a:avLst/>
          </a:prstGeom>
        </p:spPr>
        <p:txBody>
          <a:bodyPr anchorCtr="0" anchor="t" bIns="45700" lIns="0" spcFirstLastPara="1" rIns="0" wrap="square" tIns="45700">
            <a:normAutofit/>
          </a:bodyPr>
          <a:lstStyle/>
          <a:p>
            <a:pPr indent="-368300" lvl="0" marL="457200" rtl="0" algn="l">
              <a:lnSpc>
                <a:spcPct val="150000"/>
              </a:lnSpc>
              <a:spcBef>
                <a:spcPts val="0"/>
              </a:spcBef>
              <a:spcAft>
                <a:spcPts val="0"/>
              </a:spcAft>
              <a:buClr>
                <a:schemeClr val="dk1"/>
              </a:buClr>
              <a:buSzPts val="2200"/>
              <a:buChar char="●"/>
            </a:pPr>
            <a:r>
              <a:rPr lang="en-US" sz="2200">
                <a:solidFill>
                  <a:schemeClr val="dk1"/>
                </a:solidFill>
              </a:rPr>
              <a:t>Remember, scale your input</a:t>
            </a:r>
            <a:endParaRPr sz="2200">
              <a:solidFill>
                <a:schemeClr val="dk1"/>
              </a:solidFill>
            </a:endParaRPr>
          </a:p>
          <a:p>
            <a:pPr indent="-368300" lvl="1" marL="914400" rtl="0" algn="l">
              <a:lnSpc>
                <a:spcPct val="150000"/>
              </a:lnSpc>
              <a:spcBef>
                <a:spcPts val="0"/>
              </a:spcBef>
              <a:spcAft>
                <a:spcPts val="0"/>
              </a:spcAft>
              <a:buClr>
                <a:schemeClr val="dk1"/>
              </a:buClr>
              <a:buSzPts val="2200"/>
              <a:buChar char="○"/>
            </a:pPr>
            <a:r>
              <a:rPr lang="en-US" sz="2200">
                <a:solidFill>
                  <a:schemeClr val="dk1"/>
                </a:solidFill>
              </a:rPr>
              <a:t>So response is output / input</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US" sz="2200">
                <a:solidFill>
                  <a:schemeClr val="dk1"/>
                </a:solidFill>
              </a:rPr>
              <a:t>In order to determine type of filter,  evaluate |H(w)| at 0, ∞, and in between (possibly at w0)</a:t>
            </a:r>
            <a:endParaRPr sz="2200">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2200">
              <a:solidFill>
                <a:schemeClr val="dk1"/>
              </a:solidFill>
            </a:endParaRPr>
          </a:p>
          <a:p>
            <a:pPr indent="0" lvl="0" marL="457200" rtl="0" algn="l">
              <a:lnSpc>
                <a:spcPct val="150000"/>
              </a:lnSpc>
              <a:spcBef>
                <a:spcPts val="0"/>
              </a:spcBef>
              <a:spcAft>
                <a:spcPts val="0"/>
              </a:spcAft>
              <a:buNone/>
            </a:pPr>
            <a:r>
              <a:t/>
            </a:r>
            <a:endParaRPr sz="2200">
              <a:solidFill>
                <a:schemeClr val="dk1"/>
              </a:solidFill>
            </a:endParaRPr>
          </a:p>
          <a:p>
            <a:pPr indent="0" lvl="0" marL="457200" rtl="0" algn="l">
              <a:lnSpc>
                <a:spcPct val="150000"/>
              </a:lnSpc>
              <a:spcBef>
                <a:spcPts val="0"/>
              </a:spcBef>
              <a:spcAft>
                <a:spcPts val="0"/>
              </a:spcAft>
              <a:buNone/>
            </a:pPr>
            <a:r>
              <a:t/>
            </a:r>
            <a:endParaRPr sz="2200">
              <a:solidFill>
                <a:schemeClr val="dk1"/>
              </a:solidFill>
            </a:endParaRPr>
          </a:p>
          <a:p>
            <a:pPr indent="0" lvl="0" marL="457200" rtl="0" algn="l">
              <a:lnSpc>
                <a:spcPct val="150000"/>
              </a:lnSpc>
              <a:spcBef>
                <a:spcPts val="0"/>
              </a:spcBef>
              <a:spcAft>
                <a:spcPts val="0"/>
              </a:spcAft>
              <a:buNone/>
            </a:pPr>
            <a:r>
              <a:t/>
            </a:r>
            <a:endParaRPr sz="2200">
              <a:solidFill>
                <a:schemeClr val="dk1"/>
              </a:solidFill>
            </a:endParaRPr>
          </a:p>
        </p:txBody>
      </p:sp>
      <p:pic>
        <p:nvPicPr>
          <p:cNvPr id="204" name="Google Shape;204;g11d7b9058fb_1_0"/>
          <p:cNvPicPr preferRelativeResize="0"/>
          <p:nvPr/>
        </p:nvPicPr>
        <p:blipFill>
          <a:blip r:embed="rId3">
            <a:alphaModFix/>
          </a:blip>
          <a:stretch>
            <a:fillRect/>
          </a:stretch>
        </p:blipFill>
        <p:spPr>
          <a:xfrm>
            <a:off x="6577799" y="1737399"/>
            <a:ext cx="5312325" cy="886175"/>
          </a:xfrm>
          <a:prstGeom prst="rect">
            <a:avLst/>
          </a:prstGeom>
          <a:noFill/>
          <a:ln>
            <a:noFill/>
          </a:ln>
        </p:spPr>
      </p:pic>
      <p:sp>
        <p:nvSpPr>
          <p:cNvPr id="205" name="Google Shape;205;g11d7b9058fb_1_0"/>
          <p:cNvSpPr txBox="1"/>
          <p:nvPr/>
        </p:nvSpPr>
        <p:spPr>
          <a:xfrm>
            <a:off x="4144175" y="4047225"/>
            <a:ext cx="44346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400">
                <a:latin typeface="Calibri"/>
                <a:ea typeface="Calibri"/>
                <a:cs typeface="Calibri"/>
                <a:sym typeface="Calibri"/>
              </a:rPr>
              <a:t>High Pass</a:t>
            </a:r>
            <a:endParaRPr sz="3400">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|H(0)|=0</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|H(</a:t>
            </a:r>
            <a:r>
              <a:rPr lang="en-US" sz="3400">
                <a:solidFill>
                  <a:schemeClr val="dk1"/>
                </a:solidFill>
                <a:highlight>
                  <a:srgbClr val="FFFFFF"/>
                </a:highlight>
                <a:latin typeface="Roboto"/>
                <a:ea typeface="Roboto"/>
                <a:cs typeface="Roboto"/>
                <a:sym typeface="Roboto"/>
              </a:rPr>
              <a:t>∞</a:t>
            </a:r>
            <a:r>
              <a:rPr lang="en-US" sz="3400">
                <a:solidFill>
                  <a:schemeClr val="dk1"/>
                </a:solidFill>
                <a:latin typeface="Calibri"/>
                <a:ea typeface="Calibri"/>
                <a:cs typeface="Calibri"/>
                <a:sym typeface="Calibri"/>
              </a:rPr>
              <a:t>)|=1</a:t>
            </a:r>
            <a:endParaRPr sz="3400">
              <a:latin typeface="Calibri"/>
              <a:ea typeface="Calibri"/>
              <a:cs typeface="Calibri"/>
              <a:sym typeface="Calibri"/>
            </a:endParaRPr>
          </a:p>
        </p:txBody>
      </p:sp>
      <p:sp>
        <p:nvSpPr>
          <p:cNvPr id="206" name="Google Shape;206;g11d7b9058fb_1_0"/>
          <p:cNvSpPr txBox="1"/>
          <p:nvPr/>
        </p:nvSpPr>
        <p:spPr>
          <a:xfrm>
            <a:off x="727325" y="4047225"/>
            <a:ext cx="2447700" cy="2277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Low Pass</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|H(0)|=1</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|H(</a:t>
            </a:r>
            <a:r>
              <a:rPr lang="en-US" sz="3400">
                <a:solidFill>
                  <a:schemeClr val="dk1"/>
                </a:solidFill>
                <a:highlight>
                  <a:srgbClr val="FFFFFF"/>
                </a:highlight>
                <a:latin typeface="Roboto"/>
                <a:ea typeface="Roboto"/>
                <a:cs typeface="Roboto"/>
                <a:sym typeface="Roboto"/>
              </a:rPr>
              <a:t>∞</a:t>
            </a:r>
            <a:r>
              <a:rPr lang="en-US" sz="3400">
                <a:solidFill>
                  <a:schemeClr val="dk1"/>
                </a:solidFill>
                <a:latin typeface="Calibri"/>
                <a:ea typeface="Calibri"/>
                <a:cs typeface="Calibri"/>
                <a:sym typeface="Calibri"/>
              </a:rPr>
              <a:t>)|=0</a:t>
            </a:r>
            <a:endParaRPr sz="3400">
              <a:latin typeface="Calibri"/>
              <a:ea typeface="Calibri"/>
              <a:cs typeface="Calibri"/>
              <a:sym typeface="Calibri"/>
            </a:endParaRPr>
          </a:p>
        </p:txBody>
      </p:sp>
      <p:sp>
        <p:nvSpPr>
          <p:cNvPr id="207" name="Google Shape;207;g11d7b9058fb_1_0"/>
          <p:cNvSpPr txBox="1"/>
          <p:nvPr/>
        </p:nvSpPr>
        <p:spPr>
          <a:xfrm>
            <a:off x="7300375" y="4047225"/>
            <a:ext cx="61008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400">
                <a:latin typeface="Calibri"/>
                <a:ea typeface="Calibri"/>
                <a:cs typeface="Calibri"/>
                <a:sym typeface="Calibri"/>
              </a:rPr>
              <a:t>Band</a:t>
            </a:r>
            <a:r>
              <a:rPr lang="en-US" sz="3400">
                <a:latin typeface="Calibri"/>
                <a:ea typeface="Calibri"/>
                <a:cs typeface="Calibri"/>
                <a:sym typeface="Calibri"/>
              </a:rPr>
              <a:t> Pass</a:t>
            </a:r>
            <a:endParaRPr sz="3400">
              <a:latin typeface="Calibri"/>
              <a:ea typeface="Calibri"/>
              <a:cs typeface="Calibri"/>
              <a:sym typeface="Calibri"/>
            </a:endParaRPr>
          </a:p>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|H(0)|=0     </a:t>
            </a:r>
            <a:r>
              <a:rPr lang="en-US" sz="3400">
                <a:solidFill>
                  <a:schemeClr val="dk1"/>
                </a:solidFill>
                <a:latin typeface="Calibri"/>
                <a:ea typeface="Calibri"/>
                <a:cs typeface="Calibri"/>
                <a:sym typeface="Calibri"/>
              </a:rPr>
              <a:t>|H(w0)|&gt;0</a:t>
            </a:r>
            <a:endParaRPr sz="34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rPr lang="en-US" sz="3400">
                <a:solidFill>
                  <a:schemeClr val="dk1"/>
                </a:solidFill>
                <a:latin typeface="Calibri"/>
                <a:ea typeface="Calibri"/>
                <a:cs typeface="Calibri"/>
                <a:sym typeface="Calibri"/>
              </a:rPr>
              <a:t>|H(</a:t>
            </a:r>
            <a:r>
              <a:rPr lang="en-US" sz="3400">
                <a:solidFill>
                  <a:schemeClr val="dk1"/>
                </a:solidFill>
                <a:highlight>
                  <a:srgbClr val="FFFFFF"/>
                </a:highlight>
                <a:latin typeface="Roboto"/>
                <a:ea typeface="Roboto"/>
                <a:cs typeface="Roboto"/>
                <a:sym typeface="Roboto"/>
              </a:rPr>
              <a:t>∞</a:t>
            </a:r>
            <a:r>
              <a:rPr lang="en-US" sz="3400">
                <a:solidFill>
                  <a:schemeClr val="dk1"/>
                </a:solidFill>
                <a:latin typeface="Calibri"/>
                <a:ea typeface="Calibri"/>
                <a:cs typeface="Calibri"/>
                <a:sym typeface="Calibri"/>
              </a:rPr>
              <a:t>)|=0</a:t>
            </a:r>
            <a:endParaRPr sz="3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11d7b9058fb_0_58"/>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Conceptual Questions</a:t>
            </a:r>
            <a:endParaRPr/>
          </a:p>
        </p:txBody>
      </p:sp>
      <p:sp>
        <p:nvSpPr>
          <p:cNvPr id="214" name="Google Shape;214;g11d7b9058fb_0_58"/>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2400"/>
              <a:t>A linear system has the following frequency response:</a:t>
            </a:r>
            <a:endParaRPr sz="24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200"/>
              </a:spcAft>
              <a:buNone/>
            </a:pPr>
            <a:r>
              <a:rPr lang="en-US" sz="2400"/>
              <a:t>Find the output of the system when the input is</a:t>
            </a:r>
            <a:endParaRPr sz="2400"/>
          </a:p>
        </p:txBody>
      </p:sp>
      <p:pic>
        <p:nvPicPr>
          <p:cNvPr id="215" name="Google Shape;215;g11d7b9058fb_0_58"/>
          <p:cNvPicPr preferRelativeResize="0"/>
          <p:nvPr/>
        </p:nvPicPr>
        <p:blipFill>
          <a:blip r:embed="rId3">
            <a:alphaModFix/>
          </a:blip>
          <a:stretch>
            <a:fillRect/>
          </a:stretch>
        </p:blipFill>
        <p:spPr>
          <a:xfrm>
            <a:off x="4981611" y="2625125"/>
            <a:ext cx="2228775" cy="513925"/>
          </a:xfrm>
          <a:prstGeom prst="rect">
            <a:avLst/>
          </a:prstGeom>
          <a:noFill/>
          <a:ln>
            <a:noFill/>
          </a:ln>
        </p:spPr>
      </p:pic>
      <p:pic>
        <p:nvPicPr>
          <p:cNvPr id="216" name="Google Shape;216;g11d7b9058fb_0_58"/>
          <p:cNvPicPr preferRelativeResize="0"/>
          <p:nvPr/>
        </p:nvPicPr>
        <p:blipFill>
          <a:blip r:embed="rId4">
            <a:alphaModFix/>
          </a:blip>
          <a:stretch>
            <a:fillRect/>
          </a:stretch>
        </p:blipFill>
        <p:spPr>
          <a:xfrm>
            <a:off x="2217850" y="4578950"/>
            <a:ext cx="7756300" cy="776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11d7b9058fb_2_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Conceptual Questions</a:t>
            </a:r>
            <a:endParaRPr/>
          </a:p>
        </p:txBody>
      </p:sp>
      <p:sp>
        <p:nvSpPr>
          <p:cNvPr id="223" name="Google Shape;223;g11d7b9058fb_2_4"/>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a:t>A linear system is described by the following differential equation:</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200"/>
              </a:spcAft>
              <a:buNone/>
            </a:pPr>
            <a:r>
              <a:rPr lang="en-US"/>
              <a:t>Find the frequency response H(w) of the system.</a:t>
            </a:r>
            <a:endParaRPr/>
          </a:p>
        </p:txBody>
      </p:sp>
      <p:pic>
        <p:nvPicPr>
          <p:cNvPr id="224" name="Google Shape;224;g11d7b9058fb_2_4"/>
          <p:cNvPicPr preferRelativeResize="0"/>
          <p:nvPr/>
        </p:nvPicPr>
        <p:blipFill>
          <a:blip r:embed="rId3">
            <a:alphaModFix/>
          </a:blip>
          <a:stretch>
            <a:fillRect/>
          </a:stretch>
        </p:blipFill>
        <p:spPr>
          <a:xfrm>
            <a:off x="1787204" y="2334798"/>
            <a:ext cx="8617595" cy="1450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11d7b9058fb_2_13"/>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Conceptual Question Solution</a:t>
            </a:r>
            <a:endParaRPr/>
          </a:p>
        </p:txBody>
      </p:sp>
      <p:pic>
        <p:nvPicPr>
          <p:cNvPr id="231" name="Google Shape;231;g11d7b9058fb_2_13"/>
          <p:cNvPicPr preferRelativeResize="0"/>
          <p:nvPr/>
        </p:nvPicPr>
        <p:blipFill>
          <a:blip r:embed="rId3">
            <a:alphaModFix/>
          </a:blip>
          <a:stretch>
            <a:fillRect/>
          </a:stretch>
        </p:blipFill>
        <p:spPr>
          <a:xfrm>
            <a:off x="1787204" y="1875498"/>
            <a:ext cx="8617595" cy="1450800"/>
          </a:xfrm>
          <a:prstGeom prst="rect">
            <a:avLst/>
          </a:prstGeom>
          <a:noFill/>
          <a:ln>
            <a:noFill/>
          </a:ln>
        </p:spPr>
      </p:pic>
      <p:pic>
        <p:nvPicPr>
          <p:cNvPr id="232" name="Google Shape;232;g11d7b9058fb_2_13"/>
          <p:cNvPicPr preferRelativeResize="0"/>
          <p:nvPr/>
        </p:nvPicPr>
        <p:blipFill>
          <a:blip r:embed="rId4">
            <a:alphaModFix/>
          </a:blip>
          <a:stretch>
            <a:fillRect/>
          </a:stretch>
        </p:blipFill>
        <p:spPr>
          <a:xfrm>
            <a:off x="181338" y="3875348"/>
            <a:ext cx="11668125" cy="895350"/>
          </a:xfrm>
          <a:prstGeom prst="rect">
            <a:avLst/>
          </a:prstGeom>
          <a:noFill/>
          <a:ln>
            <a:noFill/>
          </a:ln>
        </p:spPr>
      </p:pic>
      <p:pic>
        <p:nvPicPr>
          <p:cNvPr id="233" name="Google Shape;233;g11d7b9058fb_2_13"/>
          <p:cNvPicPr preferRelativeResize="0"/>
          <p:nvPr/>
        </p:nvPicPr>
        <p:blipFill>
          <a:blip r:embed="rId5">
            <a:alphaModFix/>
          </a:blip>
          <a:stretch>
            <a:fillRect/>
          </a:stretch>
        </p:blipFill>
        <p:spPr>
          <a:xfrm>
            <a:off x="138475" y="5319748"/>
            <a:ext cx="11753850" cy="895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11d7b9058fb_2_22"/>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Conceptual Question Solution</a:t>
            </a:r>
            <a:endParaRPr/>
          </a:p>
        </p:txBody>
      </p:sp>
      <p:pic>
        <p:nvPicPr>
          <p:cNvPr id="240" name="Google Shape;240;g11d7b9058fb_2_22"/>
          <p:cNvPicPr preferRelativeResize="0"/>
          <p:nvPr/>
        </p:nvPicPr>
        <p:blipFill>
          <a:blip r:embed="rId3">
            <a:alphaModFix/>
          </a:blip>
          <a:stretch>
            <a:fillRect/>
          </a:stretch>
        </p:blipFill>
        <p:spPr>
          <a:xfrm>
            <a:off x="219075" y="1867448"/>
            <a:ext cx="11753850" cy="895350"/>
          </a:xfrm>
          <a:prstGeom prst="rect">
            <a:avLst/>
          </a:prstGeom>
          <a:noFill/>
          <a:ln>
            <a:noFill/>
          </a:ln>
        </p:spPr>
      </p:pic>
      <p:pic>
        <p:nvPicPr>
          <p:cNvPr id="241" name="Google Shape;241;g11d7b9058fb_2_22"/>
          <p:cNvPicPr preferRelativeResize="0"/>
          <p:nvPr/>
        </p:nvPicPr>
        <p:blipFill>
          <a:blip r:embed="rId4">
            <a:alphaModFix/>
          </a:blip>
          <a:stretch>
            <a:fillRect/>
          </a:stretch>
        </p:blipFill>
        <p:spPr>
          <a:xfrm>
            <a:off x="569925" y="4348398"/>
            <a:ext cx="10802563" cy="1883952"/>
          </a:xfrm>
          <a:prstGeom prst="rect">
            <a:avLst/>
          </a:prstGeom>
          <a:noFill/>
          <a:ln>
            <a:noFill/>
          </a:ln>
        </p:spPr>
      </p:pic>
      <p:pic>
        <p:nvPicPr>
          <p:cNvPr id="242" name="Google Shape;242;g11d7b9058fb_2_22"/>
          <p:cNvPicPr preferRelativeResize="0"/>
          <p:nvPr/>
        </p:nvPicPr>
        <p:blipFill>
          <a:blip r:embed="rId5">
            <a:alphaModFix/>
          </a:blip>
          <a:stretch>
            <a:fillRect/>
          </a:stretch>
        </p:blipFill>
        <p:spPr>
          <a:xfrm>
            <a:off x="2101600" y="2994040"/>
            <a:ext cx="8534251" cy="1234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11d7b9058fb_0_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Phasor Definition</a:t>
            </a:r>
            <a:endParaRPr/>
          </a:p>
        </p:txBody>
      </p:sp>
      <p:pic>
        <p:nvPicPr>
          <p:cNvPr id="249" name="Google Shape;249;g11d7b9058fb_0_0"/>
          <p:cNvPicPr preferRelativeResize="0"/>
          <p:nvPr/>
        </p:nvPicPr>
        <p:blipFill>
          <a:blip r:embed="rId3">
            <a:alphaModFix/>
          </a:blip>
          <a:stretch>
            <a:fillRect/>
          </a:stretch>
        </p:blipFill>
        <p:spPr>
          <a:xfrm>
            <a:off x="152400" y="1997128"/>
            <a:ext cx="11887199" cy="803525"/>
          </a:xfrm>
          <a:prstGeom prst="rect">
            <a:avLst/>
          </a:prstGeom>
          <a:noFill/>
          <a:ln>
            <a:noFill/>
          </a:ln>
        </p:spPr>
      </p:pic>
      <p:pic>
        <p:nvPicPr>
          <p:cNvPr id="250" name="Google Shape;250;g11d7b9058fb_0_0"/>
          <p:cNvPicPr preferRelativeResize="0"/>
          <p:nvPr/>
        </p:nvPicPr>
        <p:blipFill>
          <a:blip r:embed="rId4">
            <a:alphaModFix/>
          </a:blip>
          <a:stretch>
            <a:fillRect/>
          </a:stretch>
        </p:blipFill>
        <p:spPr>
          <a:xfrm>
            <a:off x="2664138" y="4176553"/>
            <a:ext cx="6924675" cy="1419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Phasors, Co-sinusoids, and Impedance</a:t>
            </a:r>
            <a:endParaRPr/>
          </a:p>
        </p:txBody>
      </p:sp>
      <p:sp>
        <p:nvSpPr>
          <p:cNvPr id="256" name="Google Shape;256;p9"/>
          <p:cNvSpPr txBox="1"/>
          <p:nvPr>
            <p:ph idx="1" type="body"/>
          </p:nvPr>
        </p:nvSpPr>
        <p:spPr>
          <a:xfrm>
            <a:off x="1097280" y="1845734"/>
            <a:ext cx="3606695" cy="4023360"/>
          </a:xfrm>
          <a:prstGeom prst="rect">
            <a:avLst/>
          </a:prstGeom>
          <a:blipFill rotWithShape="1">
            <a:blip r:embed="rId3">
              <a:alphaModFix/>
            </a:blip>
            <a:stretch>
              <a:fillRect b="0" l="-3883" r="-675" t="-908"/>
            </a:stretch>
          </a:blip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sp>
        <p:nvSpPr>
          <p:cNvPr id="257" name="Google Shape;257;p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
        <p:nvSpPr>
          <p:cNvPr id="258" name="Google Shape;258;p9"/>
          <p:cNvSpPr txBox="1"/>
          <p:nvPr/>
        </p:nvSpPr>
        <p:spPr>
          <a:xfrm>
            <a:off x="6443512" y="1737360"/>
            <a:ext cx="4822804" cy="1836272"/>
          </a:xfrm>
          <a:prstGeom prst="rect">
            <a:avLst/>
          </a:prstGeom>
          <a:blipFill rotWithShape="1">
            <a:blip r:embed="rId4">
              <a:alphaModFix/>
            </a:blip>
            <a:stretch>
              <a:fillRect b="0" l="-101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59" name="Google Shape;259;p9"/>
          <p:cNvSpPr txBox="1"/>
          <p:nvPr/>
        </p:nvSpPr>
        <p:spPr>
          <a:xfrm>
            <a:off x="1097279" y="3369707"/>
            <a:ext cx="9943800" cy="25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Once you’ve converted every circuit element in the phasor domain, you can analyze the circuit using all the ways covered in the first midterm!!!</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Node Voltage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Superposition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Loop Current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Source Transformations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NOTE: The solution obtained after analysis with the phasor method is the </a:t>
            </a:r>
            <a:r>
              <a:rPr i="1" lang="en-US" sz="1800">
                <a:solidFill>
                  <a:srgbClr val="FF0000"/>
                </a:solidFill>
                <a:latin typeface="Calibri"/>
                <a:ea typeface="Calibri"/>
                <a:cs typeface="Calibri"/>
                <a:sym typeface="Calibri"/>
              </a:rPr>
              <a:t>STEADY STATE SOLUTION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11d7b9058fb_2_11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Formulae to Remember:</a:t>
            </a:r>
            <a:endParaRPr/>
          </a:p>
        </p:txBody>
      </p:sp>
      <p:pic>
        <p:nvPicPr>
          <p:cNvPr id="266" name="Google Shape;266;g11d7b9058fb_2_110"/>
          <p:cNvPicPr preferRelativeResize="0"/>
          <p:nvPr/>
        </p:nvPicPr>
        <p:blipFill>
          <a:blip r:embed="rId3">
            <a:alphaModFix/>
          </a:blip>
          <a:stretch>
            <a:fillRect/>
          </a:stretch>
        </p:blipFill>
        <p:spPr>
          <a:xfrm>
            <a:off x="2657475" y="2110588"/>
            <a:ext cx="6877050" cy="1743075"/>
          </a:xfrm>
          <a:prstGeom prst="rect">
            <a:avLst/>
          </a:prstGeom>
          <a:noFill/>
          <a:ln>
            <a:noFill/>
          </a:ln>
        </p:spPr>
      </p:pic>
      <p:pic>
        <p:nvPicPr>
          <p:cNvPr id="267" name="Google Shape;267;g11d7b9058fb_2_110"/>
          <p:cNvPicPr preferRelativeResize="0"/>
          <p:nvPr/>
        </p:nvPicPr>
        <p:blipFill>
          <a:blip r:embed="rId4">
            <a:alphaModFix/>
          </a:blip>
          <a:stretch>
            <a:fillRect/>
          </a:stretch>
        </p:blipFill>
        <p:spPr>
          <a:xfrm>
            <a:off x="2683188" y="4226875"/>
            <a:ext cx="6886575" cy="190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Conceptual Questions (30 seconds each)</a:t>
            </a:r>
            <a:endParaRPr/>
          </a:p>
        </p:txBody>
      </p:sp>
      <p:sp>
        <p:nvSpPr>
          <p:cNvPr id="274" name="Google Shape;274;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
        <p:nvSpPr>
          <p:cNvPr id="275" name="Google Shape;275;p20"/>
          <p:cNvSpPr txBox="1"/>
          <p:nvPr/>
        </p:nvSpPr>
        <p:spPr>
          <a:xfrm>
            <a:off x="504517" y="2067561"/>
            <a:ext cx="6325963" cy="2570575"/>
          </a:xfrm>
          <a:prstGeom prst="rect">
            <a:avLst/>
          </a:prstGeom>
          <a:blipFill rotWithShape="1">
            <a:blip r:embed="rId3">
              <a:alphaModFix/>
            </a:blip>
            <a:stretch>
              <a:fillRect b="-7108" l="-2506" r="-1540" t="-307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76" name="Google Shape;276;p20"/>
          <p:cNvSpPr/>
          <p:nvPr/>
        </p:nvSpPr>
        <p:spPr>
          <a:xfrm>
            <a:off x="320100" y="3799550"/>
            <a:ext cx="5581200" cy="1252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0"/>
          <p:cNvPicPr preferRelativeResize="0"/>
          <p:nvPr/>
        </p:nvPicPr>
        <p:blipFill>
          <a:blip r:embed="rId4">
            <a:alphaModFix/>
          </a:blip>
          <a:stretch>
            <a:fillRect/>
          </a:stretch>
        </p:blipFill>
        <p:spPr>
          <a:xfrm>
            <a:off x="320100" y="3743075"/>
            <a:ext cx="5670018" cy="11029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10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11d7b9058fb_0_2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Conceptual Question</a:t>
            </a:r>
            <a:endParaRPr/>
          </a:p>
        </p:txBody>
      </p:sp>
      <p:sp>
        <p:nvSpPr>
          <p:cNvPr id="284" name="Google Shape;284;g11d7b9058fb_0_27"/>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a:t>Convert the following circuit into the phasor domain:</a:t>
            </a:r>
            <a:endParaRPr/>
          </a:p>
        </p:txBody>
      </p:sp>
      <p:pic>
        <p:nvPicPr>
          <p:cNvPr id="285" name="Google Shape;285;g11d7b9058fb_0_27"/>
          <p:cNvPicPr preferRelativeResize="0"/>
          <p:nvPr/>
        </p:nvPicPr>
        <p:blipFill>
          <a:blip r:embed="rId3">
            <a:alphaModFix/>
          </a:blip>
          <a:stretch>
            <a:fillRect/>
          </a:stretch>
        </p:blipFill>
        <p:spPr>
          <a:xfrm>
            <a:off x="2665475" y="2375475"/>
            <a:ext cx="6922001" cy="3647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Fourier Series</a:t>
            </a:r>
            <a:endParaRPr/>
          </a:p>
        </p:txBody>
      </p:sp>
      <p:sp>
        <p:nvSpPr>
          <p:cNvPr id="292" name="Google Shape;292;p11"/>
          <p:cNvSpPr txBox="1"/>
          <p:nvPr>
            <p:ph idx="1" type="body"/>
          </p:nvPr>
        </p:nvSpPr>
        <p:spPr>
          <a:xfrm>
            <a:off x="1097280" y="1845734"/>
            <a:ext cx="10058400" cy="4023360"/>
          </a:xfrm>
          <a:prstGeom prst="rect">
            <a:avLst/>
          </a:prstGeom>
          <a:blipFill rotWithShape="1">
            <a:blip r:embed="rId3">
              <a:alphaModFix/>
            </a:blip>
            <a:stretch>
              <a:fillRect b="0" l="-605" r="0" t="-2271"/>
            </a:stretch>
          </a:blip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sp>
        <p:nvSpPr>
          <p:cNvPr id="293" name="Google Shape;293;p1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
        <p:nvSpPr>
          <p:cNvPr id="294" name="Google Shape;294;p11"/>
          <p:cNvSpPr txBox="1"/>
          <p:nvPr/>
        </p:nvSpPr>
        <p:spPr>
          <a:xfrm>
            <a:off x="7688675" y="1822744"/>
            <a:ext cx="4084225" cy="419923"/>
          </a:xfrm>
          <a:prstGeom prst="rect">
            <a:avLst/>
          </a:prstGeom>
          <a:blipFill rotWithShape="1">
            <a:blip r:embed="rId4">
              <a:alphaModFix/>
            </a:blip>
            <a:stretch>
              <a:fillRect b="-195622" l="-1938" r="0" t="-12172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descr="A picture containing text, receipt&#10;&#10;Description automatically generated" id="299" name="Google Shape;299;p12"/>
          <p:cNvPicPr preferRelativeResize="0"/>
          <p:nvPr>
            <p:ph idx="1" type="body"/>
          </p:nvPr>
        </p:nvPicPr>
        <p:blipFill rotWithShape="1">
          <a:blip r:embed="rId3">
            <a:alphaModFix/>
          </a:blip>
          <a:srcRect b="0" l="0" r="0" t="0"/>
          <a:stretch/>
        </p:blipFill>
        <p:spPr>
          <a:xfrm>
            <a:off x="2023465" y="33090"/>
            <a:ext cx="8145069" cy="6108802"/>
          </a:xfrm>
          <a:prstGeom prst="rect">
            <a:avLst/>
          </a:prstGeom>
          <a:noFill/>
          <a:ln>
            <a:noFill/>
          </a:ln>
        </p:spPr>
      </p:pic>
      <p:sp>
        <p:nvSpPr>
          <p:cNvPr id="300" name="Google Shape;300;p1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Other properties of Fourier Series</a:t>
            </a:r>
            <a:endParaRPr/>
          </a:p>
        </p:txBody>
      </p:sp>
      <p:sp>
        <p:nvSpPr>
          <p:cNvPr id="307" name="Google Shape;307;p1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fontScale="92500" lnSpcReduction="10000"/>
          </a:bodyPr>
          <a:lstStyle/>
          <a:p>
            <a:pPr indent="-117475" lvl="0" marL="91440" rtl="0" algn="l">
              <a:lnSpc>
                <a:spcPct val="90000"/>
              </a:lnSpc>
              <a:spcBef>
                <a:spcPts val="0"/>
              </a:spcBef>
              <a:spcAft>
                <a:spcPts val="0"/>
              </a:spcAft>
              <a:buSzPct val="100000"/>
              <a:buChar char=" "/>
            </a:pPr>
            <a:r>
              <a:rPr lang="en-US"/>
              <a:t>Division by 0 IS BAD. If a coefficient depends on division by 0, find it using another method.</a:t>
            </a:r>
            <a:endParaRPr/>
          </a:p>
          <a:p>
            <a:pPr indent="-117475" lvl="0" marL="91440" rtl="0" algn="l">
              <a:lnSpc>
                <a:spcPct val="90000"/>
              </a:lnSpc>
              <a:spcBef>
                <a:spcPts val="1400"/>
              </a:spcBef>
              <a:spcAft>
                <a:spcPts val="0"/>
              </a:spcAft>
              <a:buSzPct val="100000"/>
              <a:buChar char=" "/>
            </a:pPr>
            <a:r>
              <a:rPr lang="en-US"/>
              <a:t>For discontinuities in the sequence: the Fourier series converges to the middle of the discontinuity.</a:t>
            </a:r>
            <a:endParaRPr/>
          </a:p>
          <a:p>
            <a:pPr indent="-117475" lvl="0" marL="91440" rtl="0" algn="l">
              <a:lnSpc>
                <a:spcPct val="90000"/>
              </a:lnSpc>
              <a:spcBef>
                <a:spcPts val="1400"/>
              </a:spcBef>
              <a:spcAft>
                <a:spcPts val="0"/>
              </a:spcAft>
              <a:buSzPct val="100000"/>
              <a:buChar char=" "/>
            </a:pPr>
            <a:r>
              <a:rPr lang="en-US"/>
              <a:t>Gibbs phenomenon: there are ripples that appear right before a big jump, which we can only get rid of if we let n go to infinity.</a:t>
            </a:r>
            <a:endParaRPr/>
          </a:p>
          <a:p>
            <a:pPr indent="0" lvl="0" marL="91440" rtl="0" algn="l">
              <a:lnSpc>
                <a:spcPct val="90000"/>
              </a:lnSpc>
              <a:spcBef>
                <a:spcPts val="1400"/>
              </a:spcBef>
              <a:spcAft>
                <a:spcPts val="0"/>
              </a:spcAft>
              <a:buSzPct val="100000"/>
              <a:buNone/>
            </a:pPr>
            <a:r>
              <a:t/>
            </a:r>
            <a:endParaRPr/>
          </a:p>
          <a:p>
            <a:pPr indent="-117475" lvl="0" marL="91440" rtl="0" algn="l">
              <a:lnSpc>
                <a:spcPct val="90000"/>
              </a:lnSpc>
              <a:spcBef>
                <a:spcPts val="1400"/>
              </a:spcBef>
              <a:spcAft>
                <a:spcPts val="0"/>
              </a:spcAft>
              <a:buSzPct val="100000"/>
              <a:buChar char=" "/>
            </a:pPr>
            <a:r>
              <a:rPr lang="en-US"/>
              <a:t>Conditions for existence and usage of Fourier Series:</a:t>
            </a:r>
            <a:endParaRPr/>
          </a:p>
          <a:p>
            <a:pPr indent="-117475" lvl="0" marL="91440" rtl="0" algn="l">
              <a:lnSpc>
                <a:spcPct val="90000"/>
              </a:lnSpc>
              <a:spcBef>
                <a:spcPts val="1400"/>
              </a:spcBef>
              <a:spcAft>
                <a:spcPts val="0"/>
              </a:spcAft>
              <a:buSzPct val="100000"/>
              <a:buChar char=" "/>
            </a:pPr>
            <a:r>
              <a:rPr lang="en-US"/>
              <a:t>- f(t) must be periodic (nonperiodic signals are dealt with using a Fourier Transform, you’ll learn this very soon ;)</a:t>
            </a:r>
            <a:endParaRPr/>
          </a:p>
          <a:p>
            <a:pPr indent="-117475" lvl="0" marL="91440" rtl="0" algn="l">
              <a:lnSpc>
                <a:spcPct val="90000"/>
              </a:lnSpc>
              <a:spcBef>
                <a:spcPts val="1400"/>
              </a:spcBef>
              <a:spcAft>
                <a:spcPts val="0"/>
              </a:spcAft>
              <a:buSzPct val="100000"/>
              <a:buChar char=" "/>
            </a:pPr>
            <a:r>
              <a:rPr lang="en-US"/>
              <a:t>- f(t) must be absolutely integrable.</a:t>
            </a:r>
            <a:endParaRPr/>
          </a:p>
          <a:p>
            <a:pPr indent="-117475" lvl="0" marL="91440" rtl="0" algn="l">
              <a:lnSpc>
                <a:spcPct val="90000"/>
              </a:lnSpc>
              <a:spcBef>
                <a:spcPts val="1400"/>
              </a:spcBef>
              <a:spcAft>
                <a:spcPts val="0"/>
              </a:spcAft>
              <a:buSzPct val="100000"/>
              <a:buChar char=" "/>
            </a:pPr>
            <a:r>
              <a:rPr lang="en-US"/>
              <a:t>- There must be a finite number of maxes and mins over one period, and a finite number of finite discontinuities over one period.</a:t>
            </a:r>
            <a:endParaRPr/>
          </a:p>
          <a:p>
            <a:pPr indent="0" lvl="0" marL="91440" rtl="0" algn="l">
              <a:lnSpc>
                <a:spcPct val="90000"/>
              </a:lnSpc>
              <a:spcBef>
                <a:spcPts val="1400"/>
              </a:spcBef>
              <a:spcAft>
                <a:spcPts val="0"/>
              </a:spcAft>
              <a:buSzPct val="100000"/>
              <a:buNone/>
            </a:pPr>
            <a:r>
              <a:t/>
            </a:r>
            <a:endParaRPr/>
          </a:p>
        </p:txBody>
      </p:sp>
      <p:sp>
        <p:nvSpPr>
          <p:cNvPr id="308" name="Google Shape;308;p1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Parseval’s Theorem</a:t>
            </a:r>
            <a:endParaRPr/>
          </a:p>
        </p:txBody>
      </p:sp>
      <p:sp>
        <p:nvSpPr>
          <p:cNvPr id="315" name="Google Shape;315;p14"/>
          <p:cNvSpPr txBox="1"/>
          <p:nvPr>
            <p:ph idx="1" type="body"/>
          </p:nvPr>
        </p:nvSpPr>
        <p:spPr>
          <a:xfrm>
            <a:off x="1097280" y="1845734"/>
            <a:ext cx="10058400" cy="4023360"/>
          </a:xfrm>
          <a:prstGeom prst="rect">
            <a:avLst/>
          </a:prstGeom>
          <a:blipFill rotWithShape="1">
            <a:blip r:embed="rId3">
              <a:alphaModFix/>
            </a:blip>
            <a:stretch>
              <a:fillRect b="0" l="-787" r="0" t="0"/>
            </a:stretch>
          </a:blip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 </a:t>
            </a:r>
            <a:endParaRPr/>
          </a:p>
        </p:txBody>
      </p:sp>
      <p:sp>
        <p:nvSpPr>
          <p:cNvPr id="316" name="Google Shape;316;p1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id="317" name="Google Shape;317;p14"/>
          <p:cNvPicPr preferRelativeResize="0"/>
          <p:nvPr/>
        </p:nvPicPr>
        <p:blipFill>
          <a:blip r:embed="rId4">
            <a:alphaModFix/>
          </a:blip>
          <a:stretch>
            <a:fillRect/>
          </a:stretch>
        </p:blipFill>
        <p:spPr>
          <a:xfrm>
            <a:off x="-775175" y="3418050"/>
            <a:ext cx="14539975" cy="26053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11d7b9058fb_0_3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Fourier Series:</a:t>
            </a:r>
            <a:endParaRPr/>
          </a:p>
        </p:txBody>
      </p:sp>
      <p:sp>
        <p:nvSpPr>
          <p:cNvPr id="324" name="Google Shape;324;g11d7b9058fb_0_34"/>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a:t>Find the Exponential Fourier series of the following expression:</a:t>
            </a:r>
            <a:endParaRPr/>
          </a:p>
        </p:txBody>
      </p:sp>
      <p:pic>
        <p:nvPicPr>
          <p:cNvPr id="325" name="Google Shape;325;g11d7b9058fb_0_34"/>
          <p:cNvPicPr preferRelativeResize="0"/>
          <p:nvPr/>
        </p:nvPicPr>
        <p:blipFill>
          <a:blip r:embed="rId3">
            <a:alphaModFix/>
          </a:blip>
          <a:stretch>
            <a:fillRect/>
          </a:stretch>
        </p:blipFill>
        <p:spPr>
          <a:xfrm>
            <a:off x="1323102" y="3467175"/>
            <a:ext cx="9606748" cy="2790025"/>
          </a:xfrm>
          <a:prstGeom prst="rect">
            <a:avLst/>
          </a:prstGeom>
          <a:noFill/>
          <a:ln>
            <a:noFill/>
          </a:ln>
        </p:spPr>
      </p:pic>
      <p:pic>
        <p:nvPicPr>
          <p:cNvPr id="326" name="Google Shape;326;g11d7b9058fb_0_34"/>
          <p:cNvPicPr preferRelativeResize="0"/>
          <p:nvPr/>
        </p:nvPicPr>
        <p:blipFill>
          <a:blip r:embed="rId4">
            <a:alphaModFix/>
          </a:blip>
          <a:stretch>
            <a:fillRect/>
          </a:stretch>
        </p:blipFill>
        <p:spPr>
          <a:xfrm>
            <a:off x="2123526" y="2283950"/>
            <a:ext cx="7944926" cy="1113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11d7b9058fb_2_36"/>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Fourier Series:</a:t>
            </a:r>
            <a:endParaRPr/>
          </a:p>
        </p:txBody>
      </p:sp>
      <p:sp>
        <p:nvSpPr>
          <p:cNvPr id="333" name="Google Shape;333;g11d7b9058fb_2_36"/>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a:t>Find the Exponential Fourier series of the following expression:</a:t>
            </a:r>
            <a:endParaRPr/>
          </a:p>
        </p:txBody>
      </p:sp>
      <p:pic>
        <p:nvPicPr>
          <p:cNvPr id="334" name="Google Shape;334;g11d7b9058fb_2_36"/>
          <p:cNvPicPr preferRelativeResize="0"/>
          <p:nvPr/>
        </p:nvPicPr>
        <p:blipFill>
          <a:blip r:embed="rId3">
            <a:alphaModFix/>
          </a:blip>
          <a:stretch>
            <a:fillRect/>
          </a:stretch>
        </p:blipFill>
        <p:spPr>
          <a:xfrm>
            <a:off x="1323102" y="3467175"/>
            <a:ext cx="9606748" cy="2790025"/>
          </a:xfrm>
          <a:prstGeom prst="rect">
            <a:avLst/>
          </a:prstGeom>
          <a:noFill/>
          <a:ln>
            <a:noFill/>
          </a:ln>
        </p:spPr>
      </p:pic>
      <p:pic>
        <p:nvPicPr>
          <p:cNvPr id="335" name="Google Shape;335;g11d7b9058fb_2_36"/>
          <p:cNvPicPr preferRelativeResize="0"/>
          <p:nvPr/>
        </p:nvPicPr>
        <p:blipFill>
          <a:blip r:embed="rId4">
            <a:alphaModFix/>
          </a:blip>
          <a:stretch>
            <a:fillRect/>
          </a:stretch>
        </p:blipFill>
        <p:spPr>
          <a:xfrm>
            <a:off x="2209800" y="2463088"/>
            <a:ext cx="7772400" cy="790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Old HW Question</a:t>
            </a:r>
            <a:endParaRPr/>
          </a:p>
        </p:txBody>
      </p:sp>
      <p:sp>
        <p:nvSpPr>
          <p:cNvPr id="342" name="Google Shape;342;p2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descr="Text, letter&#10;&#10;Description automatically generated" id="343" name="Google Shape;343;p29"/>
          <p:cNvPicPr preferRelativeResize="0"/>
          <p:nvPr/>
        </p:nvPicPr>
        <p:blipFill rotWithShape="1">
          <a:blip r:embed="rId3">
            <a:alphaModFix/>
          </a:blip>
          <a:srcRect b="0" l="0" r="0" t="0"/>
          <a:stretch/>
        </p:blipFill>
        <p:spPr>
          <a:xfrm>
            <a:off x="3157537" y="1924050"/>
            <a:ext cx="5057775" cy="3009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11d7b9058fb_0_4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a:t>
            </a:r>
            <a:endParaRPr/>
          </a:p>
        </p:txBody>
      </p:sp>
      <p:sp>
        <p:nvSpPr>
          <p:cNvPr id="350" name="Google Shape;350;g11d7b9058fb_0_40"/>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a:t>Find the exponential Fourier series of the following signal:</a:t>
            </a:r>
            <a:endParaRPr/>
          </a:p>
        </p:txBody>
      </p:sp>
      <p:pic>
        <p:nvPicPr>
          <p:cNvPr id="351" name="Google Shape;351;g11d7b9058fb_0_40"/>
          <p:cNvPicPr preferRelativeResize="0"/>
          <p:nvPr/>
        </p:nvPicPr>
        <p:blipFill rotWithShape="1">
          <a:blip r:embed="rId3">
            <a:alphaModFix/>
          </a:blip>
          <a:srcRect b="64142" l="0" r="0" t="0"/>
          <a:stretch/>
        </p:blipFill>
        <p:spPr>
          <a:xfrm>
            <a:off x="1097275" y="5120575"/>
            <a:ext cx="9606748" cy="1000449"/>
          </a:xfrm>
          <a:prstGeom prst="rect">
            <a:avLst/>
          </a:prstGeom>
          <a:noFill/>
          <a:ln>
            <a:noFill/>
          </a:ln>
        </p:spPr>
      </p:pic>
      <p:pic>
        <p:nvPicPr>
          <p:cNvPr id="352" name="Google Shape;352;g11d7b9058fb_0_40"/>
          <p:cNvPicPr preferRelativeResize="0"/>
          <p:nvPr/>
        </p:nvPicPr>
        <p:blipFill>
          <a:blip r:embed="rId4">
            <a:alphaModFix/>
          </a:blip>
          <a:stretch>
            <a:fillRect/>
          </a:stretch>
        </p:blipFill>
        <p:spPr>
          <a:xfrm>
            <a:off x="3182600" y="2366000"/>
            <a:ext cx="5887775" cy="2667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11d7b9058fb_2_61"/>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359" name="Google Shape;359;g11d7b9058fb_2_61"/>
          <p:cNvSpPr txBox="1"/>
          <p:nvPr>
            <p:ph idx="1" type="body"/>
          </p:nvPr>
        </p:nvSpPr>
        <p:spPr>
          <a:xfrm>
            <a:off x="387475" y="1887475"/>
            <a:ext cx="5708400" cy="7431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Step 1: Find T and w_0.</a:t>
            </a:r>
            <a:endParaRPr sz="3100"/>
          </a:p>
        </p:txBody>
      </p:sp>
      <p:pic>
        <p:nvPicPr>
          <p:cNvPr id="360" name="Google Shape;360;g11d7b9058fb_2_61"/>
          <p:cNvPicPr preferRelativeResize="0"/>
          <p:nvPr/>
        </p:nvPicPr>
        <p:blipFill rotWithShape="1">
          <a:blip r:embed="rId3">
            <a:alphaModFix/>
          </a:blip>
          <a:srcRect b="64142" l="0" r="0" t="0"/>
          <a:stretch/>
        </p:blipFill>
        <p:spPr>
          <a:xfrm>
            <a:off x="136950" y="5134475"/>
            <a:ext cx="9606748" cy="1000449"/>
          </a:xfrm>
          <a:prstGeom prst="rect">
            <a:avLst/>
          </a:prstGeom>
          <a:noFill/>
          <a:ln>
            <a:noFill/>
          </a:ln>
        </p:spPr>
      </p:pic>
      <p:pic>
        <p:nvPicPr>
          <p:cNvPr id="361" name="Google Shape;361;g11d7b9058fb_2_61"/>
          <p:cNvPicPr preferRelativeResize="0"/>
          <p:nvPr/>
        </p:nvPicPr>
        <p:blipFill>
          <a:blip r:embed="rId4">
            <a:alphaModFix/>
          </a:blip>
          <a:stretch>
            <a:fillRect/>
          </a:stretch>
        </p:blipFill>
        <p:spPr>
          <a:xfrm>
            <a:off x="6035750" y="2101988"/>
            <a:ext cx="5887775" cy="2667900"/>
          </a:xfrm>
          <a:prstGeom prst="rect">
            <a:avLst/>
          </a:prstGeom>
          <a:noFill/>
          <a:ln>
            <a:noFill/>
          </a:ln>
        </p:spPr>
      </p:pic>
      <p:pic>
        <p:nvPicPr>
          <p:cNvPr id="362" name="Google Shape;362;g11d7b9058fb_2_61"/>
          <p:cNvPicPr preferRelativeResize="0"/>
          <p:nvPr/>
        </p:nvPicPr>
        <p:blipFill>
          <a:blip r:embed="rId5">
            <a:alphaModFix/>
          </a:blip>
          <a:stretch>
            <a:fillRect/>
          </a:stretch>
        </p:blipFill>
        <p:spPr>
          <a:xfrm>
            <a:off x="2003425" y="2845088"/>
            <a:ext cx="2476500" cy="552450"/>
          </a:xfrm>
          <a:prstGeom prst="rect">
            <a:avLst/>
          </a:prstGeom>
          <a:noFill/>
          <a:ln>
            <a:noFill/>
          </a:ln>
        </p:spPr>
      </p:pic>
      <p:pic>
        <p:nvPicPr>
          <p:cNvPr id="363" name="Google Shape;363;g11d7b9058fb_2_61"/>
          <p:cNvPicPr preferRelativeResize="0"/>
          <p:nvPr/>
        </p:nvPicPr>
        <p:blipFill>
          <a:blip r:embed="rId6">
            <a:alphaModFix/>
          </a:blip>
          <a:stretch>
            <a:fillRect/>
          </a:stretch>
        </p:blipFill>
        <p:spPr>
          <a:xfrm>
            <a:off x="1168375" y="3612050"/>
            <a:ext cx="3368825" cy="124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11d7b9058fb_2_69"/>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370" name="Google Shape;370;g11d7b9058fb_2_69"/>
          <p:cNvSpPr txBox="1"/>
          <p:nvPr>
            <p:ph idx="1" type="body"/>
          </p:nvPr>
        </p:nvSpPr>
        <p:spPr>
          <a:xfrm>
            <a:off x="387475" y="1887475"/>
            <a:ext cx="5708400" cy="12858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Step 2: Set up the integral</a:t>
            </a:r>
            <a:endParaRPr sz="3100"/>
          </a:p>
        </p:txBody>
      </p:sp>
      <p:pic>
        <p:nvPicPr>
          <p:cNvPr id="371" name="Google Shape;371;g11d7b9058fb_2_69"/>
          <p:cNvPicPr preferRelativeResize="0"/>
          <p:nvPr/>
        </p:nvPicPr>
        <p:blipFill rotWithShape="1">
          <a:blip r:embed="rId3">
            <a:alphaModFix/>
          </a:blip>
          <a:srcRect b="64142" l="0" r="0" t="0"/>
          <a:stretch/>
        </p:blipFill>
        <p:spPr>
          <a:xfrm>
            <a:off x="136950" y="5134475"/>
            <a:ext cx="9606748" cy="1000449"/>
          </a:xfrm>
          <a:prstGeom prst="rect">
            <a:avLst/>
          </a:prstGeom>
          <a:noFill/>
          <a:ln>
            <a:noFill/>
          </a:ln>
        </p:spPr>
      </p:pic>
      <p:pic>
        <p:nvPicPr>
          <p:cNvPr id="372" name="Google Shape;372;g11d7b9058fb_2_69"/>
          <p:cNvPicPr preferRelativeResize="0"/>
          <p:nvPr/>
        </p:nvPicPr>
        <p:blipFill>
          <a:blip r:embed="rId4">
            <a:alphaModFix/>
          </a:blip>
          <a:stretch>
            <a:fillRect/>
          </a:stretch>
        </p:blipFill>
        <p:spPr>
          <a:xfrm>
            <a:off x="8036375" y="495376"/>
            <a:ext cx="4068076" cy="1843349"/>
          </a:xfrm>
          <a:prstGeom prst="rect">
            <a:avLst/>
          </a:prstGeom>
          <a:noFill/>
          <a:ln>
            <a:noFill/>
          </a:ln>
        </p:spPr>
      </p:pic>
      <p:pic>
        <p:nvPicPr>
          <p:cNvPr id="373" name="Google Shape;373;g11d7b9058fb_2_69"/>
          <p:cNvPicPr preferRelativeResize="0"/>
          <p:nvPr/>
        </p:nvPicPr>
        <p:blipFill>
          <a:blip r:embed="rId5">
            <a:alphaModFix/>
          </a:blip>
          <a:stretch>
            <a:fillRect/>
          </a:stretch>
        </p:blipFill>
        <p:spPr>
          <a:xfrm>
            <a:off x="103736" y="2715913"/>
            <a:ext cx="11984538" cy="20413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11d7b9058fb_2_7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380" name="Google Shape;380;g11d7b9058fb_2_77"/>
          <p:cNvSpPr txBox="1"/>
          <p:nvPr>
            <p:ph idx="1" type="body"/>
          </p:nvPr>
        </p:nvSpPr>
        <p:spPr>
          <a:xfrm>
            <a:off x="387475" y="1887475"/>
            <a:ext cx="5708400" cy="12858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Step 3: Evaluate said integral</a:t>
            </a:r>
            <a:endParaRPr sz="3100"/>
          </a:p>
        </p:txBody>
      </p:sp>
      <p:pic>
        <p:nvPicPr>
          <p:cNvPr id="381" name="Google Shape;381;g11d7b9058fb_2_77"/>
          <p:cNvPicPr preferRelativeResize="0"/>
          <p:nvPr/>
        </p:nvPicPr>
        <p:blipFill>
          <a:blip r:embed="rId3">
            <a:alphaModFix/>
          </a:blip>
          <a:stretch>
            <a:fillRect/>
          </a:stretch>
        </p:blipFill>
        <p:spPr>
          <a:xfrm>
            <a:off x="2806445" y="2512850"/>
            <a:ext cx="6640057" cy="1131025"/>
          </a:xfrm>
          <a:prstGeom prst="rect">
            <a:avLst/>
          </a:prstGeom>
          <a:noFill/>
          <a:ln>
            <a:noFill/>
          </a:ln>
        </p:spPr>
      </p:pic>
      <p:pic>
        <p:nvPicPr>
          <p:cNvPr id="382" name="Google Shape;382;g11d7b9058fb_2_77"/>
          <p:cNvPicPr preferRelativeResize="0"/>
          <p:nvPr/>
        </p:nvPicPr>
        <p:blipFill>
          <a:blip r:embed="rId4">
            <a:alphaModFix/>
          </a:blip>
          <a:stretch>
            <a:fillRect/>
          </a:stretch>
        </p:blipFill>
        <p:spPr>
          <a:xfrm>
            <a:off x="3791081" y="3745095"/>
            <a:ext cx="4452394" cy="1348675"/>
          </a:xfrm>
          <a:prstGeom prst="rect">
            <a:avLst/>
          </a:prstGeom>
          <a:noFill/>
          <a:ln>
            <a:noFill/>
          </a:ln>
        </p:spPr>
      </p:pic>
      <p:pic>
        <p:nvPicPr>
          <p:cNvPr id="383" name="Google Shape;383;g11d7b9058fb_2_77"/>
          <p:cNvPicPr preferRelativeResize="0"/>
          <p:nvPr/>
        </p:nvPicPr>
        <p:blipFill>
          <a:blip r:embed="rId5">
            <a:alphaModFix/>
          </a:blip>
          <a:stretch>
            <a:fillRect/>
          </a:stretch>
        </p:blipFill>
        <p:spPr>
          <a:xfrm>
            <a:off x="4046904" y="5195000"/>
            <a:ext cx="4098181" cy="104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11d7b9058fb_2_99"/>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390" name="Google Shape;390;g11d7b9058fb_2_99"/>
          <p:cNvSpPr txBox="1"/>
          <p:nvPr>
            <p:ph idx="1" type="body"/>
          </p:nvPr>
        </p:nvSpPr>
        <p:spPr>
          <a:xfrm>
            <a:off x="387475" y="1887475"/>
            <a:ext cx="5708400" cy="12858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Step 3: Evaluate said integral</a:t>
            </a:r>
            <a:endParaRPr sz="3100"/>
          </a:p>
        </p:txBody>
      </p:sp>
      <p:sp>
        <p:nvSpPr>
          <p:cNvPr id="391" name="Google Shape;391;g11d7b9058fb_2_99"/>
          <p:cNvSpPr txBox="1"/>
          <p:nvPr/>
        </p:nvSpPr>
        <p:spPr>
          <a:xfrm>
            <a:off x="4342350" y="5386200"/>
            <a:ext cx="3507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800">
                <a:latin typeface="Calibri"/>
                <a:ea typeface="Calibri"/>
                <a:cs typeface="Calibri"/>
                <a:sym typeface="Calibri"/>
              </a:rPr>
              <a:t>Can we simplify?</a:t>
            </a:r>
            <a:endParaRPr sz="3800">
              <a:latin typeface="Calibri"/>
              <a:ea typeface="Calibri"/>
              <a:cs typeface="Calibri"/>
              <a:sym typeface="Calibri"/>
            </a:endParaRPr>
          </a:p>
        </p:txBody>
      </p:sp>
      <p:pic>
        <p:nvPicPr>
          <p:cNvPr id="392" name="Google Shape;392;g11d7b9058fb_2_99"/>
          <p:cNvPicPr preferRelativeResize="0"/>
          <p:nvPr/>
        </p:nvPicPr>
        <p:blipFill>
          <a:blip r:embed="rId3">
            <a:alphaModFix/>
          </a:blip>
          <a:stretch>
            <a:fillRect/>
          </a:stretch>
        </p:blipFill>
        <p:spPr>
          <a:xfrm>
            <a:off x="3893829" y="2550600"/>
            <a:ext cx="4098181" cy="1040000"/>
          </a:xfrm>
          <a:prstGeom prst="rect">
            <a:avLst/>
          </a:prstGeom>
          <a:noFill/>
          <a:ln>
            <a:noFill/>
          </a:ln>
        </p:spPr>
      </p:pic>
      <p:pic>
        <p:nvPicPr>
          <p:cNvPr id="393" name="Google Shape;393;g11d7b9058fb_2_99"/>
          <p:cNvPicPr preferRelativeResize="0"/>
          <p:nvPr/>
        </p:nvPicPr>
        <p:blipFill>
          <a:blip r:embed="rId4">
            <a:alphaModFix/>
          </a:blip>
          <a:stretch>
            <a:fillRect/>
          </a:stretch>
        </p:blipFill>
        <p:spPr>
          <a:xfrm>
            <a:off x="2489250" y="3801225"/>
            <a:ext cx="7213501" cy="1374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11d7b9058fb_2_119"/>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400" name="Google Shape;400;g11d7b9058fb_2_119"/>
          <p:cNvSpPr txBox="1"/>
          <p:nvPr>
            <p:ph idx="1" type="body"/>
          </p:nvPr>
        </p:nvSpPr>
        <p:spPr>
          <a:xfrm>
            <a:off x="387475" y="1887475"/>
            <a:ext cx="5708400" cy="12858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Step 3: Evaluate said integral</a:t>
            </a:r>
            <a:endParaRPr sz="3100"/>
          </a:p>
        </p:txBody>
      </p:sp>
      <p:pic>
        <p:nvPicPr>
          <p:cNvPr id="401" name="Google Shape;401;g11d7b9058fb_2_119"/>
          <p:cNvPicPr preferRelativeResize="0"/>
          <p:nvPr/>
        </p:nvPicPr>
        <p:blipFill>
          <a:blip r:embed="rId3">
            <a:alphaModFix/>
          </a:blip>
          <a:stretch>
            <a:fillRect/>
          </a:stretch>
        </p:blipFill>
        <p:spPr>
          <a:xfrm>
            <a:off x="2489250" y="2562550"/>
            <a:ext cx="7213501" cy="1374350"/>
          </a:xfrm>
          <a:prstGeom prst="rect">
            <a:avLst/>
          </a:prstGeom>
          <a:noFill/>
          <a:ln>
            <a:noFill/>
          </a:ln>
        </p:spPr>
      </p:pic>
      <p:pic>
        <p:nvPicPr>
          <p:cNvPr id="402" name="Google Shape;402;g11d7b9058fb_2_119"/>
          <p:cNvPicPr preferRelativeResize="0"/>
          <p:nvPr/>
        </p:nvPicPr>
        <p:blipFill>
          <a:blip r:embed="rId4">
            <a:alphaModFix/>
          </a:blip>
          <a:stretch>
            <a:fillRect/>
          </a:stretch>
        </p:blipFill>
        <p:spPr>
          <a:xfrm>
            <a:off x="3545200" y="4158900"/>
            <a:ext cx="5162550" cy="1724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11d7b9058fb_2_8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409" name="Google Shape;409;g11d7b9058fb_2_85"/>
          <p:cNvSpPr txBox="1"/>
          <p:nvPr>
            <p:ph idx="1" type="body"/>
          </p:nvPr>
        </p:nvSpPr>
        <p:spPr>
          <a:xfrm>
            <a:off x="387475" y="1887475"/>
            <a:ext cx="5708400" cy="630300"/>
          </a:xfrm>
          <a:prstGeom prst="rect">
            <a:avLst/>
          </a:prstGeom>
        </p:spPr>
        <p:txBody>
          <a:bodyPr anchorCtr="0" anchor="t" bIns="45700" lIns="0" spcFirstLastPara="1" rIns="0" wrap="square" tIns="45700">
            <a:normAutofit fontScale="25000" lnSpcReduction="20000"/>
          </a:bodyPr>
          <a:lstStyle/>
          <a:p>
            <a:pPr indent="0" lvl="0" marL="0" rtl="0" algn="l">
              <a:spcBef>
                <a:spcPts val="1200"/>
              </a:spcBef>
              <a:spcAft>
                <a:spcPts val="0"/>
              </a:spcAft>
              <a:buNone/>
            </a:pPr>
            <a:r>
              <a:rPr lang="en-US" sz="14700"/>
              <a:t>Step 4: Done!</a:t>
            </a:r>
            <a:endParaRPr sz="14700"/>
          </a:p>
          <a:p>
            <a:pPr indent="0" lvl="0" marL="0" rtl="0" algn="l">
              <a:spcBef>
                <a:spcPts val="1200"/>
              </a:spcBef>
              <a:spcAft>
                <a:spcPts val="0"/>
              </a:spcAft>
              <a:buNone/>
            </a:pPr>
            <a:r>
              <a:t/>
            </a:r>
            <a:endParaRPr sz="3100"/>
          </a:p>
          <a:p>
            <a:pPr indent="0" lvl="0" marL="0" rtl="0" algn="l">
              <a:spcBef>
                <a:spcPts val="1200"/>
              </a:spcBef>
              <a:spcAft>
                <a:spcPts val="200"/>
              </a:spcAft>
              <a:buNone/>
            </a:pPr>
            <a:r>
              <a:t/>
            </a:r>
            <a:endParaRPr sz="3100"/>
          </a:p>
        </p:txBody>
      </p:sp>
      <p:pic>
        <p:nvPicPr>
          <p:cNvPr id="410" name="Google Shape;410;g11d7b9058fb_2_85"/>
          <p:cNvPicPr preferRelativeResize="0"/>
          <p:nvPr/>
        </p:nvPicPr>
        <p:blipFill rotWithShape="1">
          <a:blip r:embed="rId3">
            <a:alphaModFix/>
          </a:blip>
          <a:srcRect b="64142" l="0" r="0" t="0"/>
          <a:stretch/>
        </p:blipFill>
        <p:spPr>
          <a:xfrm>
            <a:off x="136950" y="5134475"/>
            <a:ext cx="9606748" cy="1000449"/>
          </a:xfrm>
          <a:prstGeom prst="rect">
            <a:avLst/>
          </a:prstGeom>
          <a:noFill/>
          <a:ln>
            <a:noFill/>
          </a:ln>
        </p:spPr>
      </p:pic>
      <p:pic>
        <p:nvPicPr>
          <p:cNvPr id="411" name="Google Shape;411;g11d7b9058fb_2_85"/>
          <p:cNvPicPr preferRelativeResize="0"/>
          <p:nvPr/>
        </p:nvPicPr>
        <p:blipFill>
          <a:blip r:embed="rId4">
            <a:alphaModFix/>
          </a:blip>
          <a:stretch>
            <a:fillRect/>
          </a:stretch>
        </p:blipFill>
        <p:spPr>
          <a:xfrm>
            <a:off x="6035750" y="2101988"/>
            <a:ext cx="5887775" cy="2667900"/>
          </a:xfrm>
          <a:prstGeom prst="rect">
            <a:avLst/>
          </a:prstGeom>
          <a:noFill/>
          <a:ln>
            <a:noFill/>
          </a:ln>
        </p:spPr>
      </p:pic>
      <p:sp>
        <p:nvSpPr>
          <p:cNvPr id="412" name="Google Shape;412;g11d7b9058fb_2_85"/>
          <p:cNvSpPr txBox="1"/>
          <p:nvPr/>
        </p:nvSpPr>
        <p:spPr>
          <a:xfrm>
            <a:off x="542800" y="3994400"/>
            <a:ext cx="2087700" cy="855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US" sz="3100">
                <a:solidFill>
                  <a:srgbClr val="3F3F3F"/>
                </a:solidFill>
                <a:latin typeface="Calibri"/>
                <a:ea typeface="Calibri"/>
                <a:cs typeface="Calibri"/>
                <a:sym typeface="Calibri"/>
              </a:rPr>
              <a:t>Or are we…</a:t>
            </a:r>
            <a:endParaRPr sz="3100">
              <a:solidFill>
                <a:srgbClr val="3F3F3F"/>
              </a:solidFill>
              <a:latin typeface="Calibri"/>
              <a:ea typeface="Calibri"/>
              <a:cs typeface="Calibri"/>
              <a:sym typeface="Calibri"/>
            </a:endParaRPr>
          </a:p>
          <a:p>
            <a:pPr indent="0" lvl="0" marL="0" rtl="0" algn="l">
              <a:spcBef>
                <a:spcPts val="200"/>
              </a:spcBef>
              <a:spcAft>
                <a:spcPts val="0"/>
              </a:spcAft>
              <a:buNone/>
            </a:pPr>
            <a:r>
              <a:t/>
            </a:r>
            <a:endParaRPr>
              <a:latin typeface="Calibri"/>
              <a:ea typeface="Calibri"/>
              <a:cs typeface="Calibri"/>
              <a:sym typeface="Calibri"/>
            </a:endParaRPr>
          </a:p>
        </p:txBody>
      </p:sp>
      <p:pic>
        <p:nvPicPr>
          <p:cNvPr id="413" name="Google Shape;413;g11d7b9058fb_2_85"/>
          <p:cNvPicPr preferRelativeResize="0"/>
          <p:nvPr/>
        </p:nvPicPr>
        <p:blipFill>
          <a:blip r:embed="rId5">
            <a:alphaModFix/>
          </a:blip>
          <a:stretch>
            <a:fillRect/>
          </a:stretch>
        </p:blipFill>
        <p:spPr>
          <a:xfrm>
            <a:off x="1268500" y="2597150"/>
            <a:ext cx="3946349" cy="1317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11d7b9058fb_2_131"/>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420" name="Google Shape;420;g11d7b9058fb_2_131"/>
          <p:cNvSpPr txBox="1"/>
          <p:nvPr>
            <p:ph idx="1" type="body"/>
          </p:nvPr>
        </p:nvSpPr>
        <p:spPr>
          <a:xfrm>
            <a:off x="387475" y="1887475"/>
            <a:ext cx="5708400" cy="630300"/>
          </a:xfrm>
          <a:prstGeom prst="rect">
            <a:avLst/>
          </a:prstGeom>
        </p:spPr>
        <p:txBody>
          <a:bodyPr anchorCtr="0" anchor="t" bIns="45700" lIns="0" spcFirstLastPara="1" rIns="0" wrap="square" tIns="45700">
            <a:normAutofit fontScale="25000" lnSpcReduction="20000"/>
          </a:bodyPr>
          <a:lstStyle/>
          <a:p>
            <a:pPr indent="0" lvl="0" marL="0" rtl="0" algn="l">
              <a:spcBef>
                <a:spcPts val="1200"/>
              </a:spcBef>
              <a:spcAft>
                <a:spcPts val="0"/>
              </a:spcAft>
              <a:buNone/>
            </a:pPr>
            <a:r>
              <a:rPr lang="en-US" sz="14700"/>
              <a:t>What if n = 0?</a:t>
            </a:r>
            <a:endParaRPr sz="14700"/>
          </a:p>
          <a:p>
            <a:pPr indent="0" lvl="0" marL="0" rtl="0" algn="l">
              <a:spcBef>
                <a:spcPts val="1200"/>
              </a:spcBef>
              <a:spcAft>
                <a:spcPts val="0"/>
              </a:spcAft>
              <a:buNone/>
            </a:pPr>
            <a:r>
              <a:t/>
            </a:r>
            <a:endParaRPr sz="3100"/>
          </a:p>
          <a:p>
            <a:pPr indent="0" lvl="0" marL="0" rtl="0" algn="l">
              <a:spcBef>
                <a:spcPts val="1200"/>
              </a:spcBef>
              <a:spcAft>
                <a:spcPts val="200"/>
              </a:spcAft>
              <a:buNone/>
            </a:pPr>
            <a:r>
              <a:t/>
            </a:r>
            <a:endParaRPr sz="3100"/>
          </a:p>
        </p:txBody>
      </p:sp>
      <p:pic>
        <p:nvPicPr>
          <p:cNvPr id="421" name="Google Shape;421;g11d7b9058fb_2_131"/>
          <p:cNvPicPr preferRelativeResize="0"/>
          <p:nvPr/>
        </p:nvPicPr>
        <p:blipFill rotWithShape="1">
          <a:blip r:embed="rId3">
            <a:alphaModFix/>
          </a:blip>
          <a:srcRect b="64142" l="0" r="0" t="0"/>
          <a:stretch/>
        </p:blipFill>
        <p:spPr>
          <a:xfrm>
            <a:off x="136950" y="5134475"/>
            <a:ext cx="9606748" cy="1000449"/>
          </a:xfrm>
          <a:prstGeom prst="rect">
            <a:avLst/>
          </a:prstGeom>
          <a:noFill/>
          <a:ln>
            <a:noFill/>
          </a:ln>
        </p:spPr>
      </p:pic>
      <p:pic>
        <p:nvPicPr>
          <p:cNvPr id="422" name="Google Shape;422;g11d7b9058fb_2_131"/>
          <p:cNvPicPr preferRelativeResize="0"/>
          <p:nvPr/>
        </p:nvPicPr>
        <p:blipFill>
          <a:blip r:embed="rId4">
            <a:alphaModFix/>
          </a:blip>
          <a:stretch>
            <a:fillRect/>
          </a:stretch>
        </p:blipFill>
        <p:spPr>
          <a:xfrm>
            <a:off x="6035750" y="2101988"/>
            <a:ext cx="5887775" cy="2667900"/>
          </a:xfrm>
          <a:prstGeom prst="rect">
            <a:avLst/>
          </a:prstGeom>
          <a:noFill/>
          <a:ln>
            <a:noFill/>
          </a:ln>
        </p:spPr>
      </p:pic>
      <p:sp>
        <p:nvSpPr>
          <p:cNvPr id="423" name="Google Shape;423;g11d7b9058fb_2_131"/>
          <p:cNvSpPr txBox="1"/>
          <p:nvPr/>
        </p:nvSpPr>
        <p:spPr>
          <a:xfrm>
            <a:off x="542800" y="3994400"/>
            <a:ext cx="5427900" cy="1284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US" sz="3100">
                <a:solidFill>
                  <a:srgbClr val="3F3F3F"/>
                </a:solidFill>
                <a:latin typeface="Calibri"/>
                <a:ea typeface="Calibri"/>
                <a:cs typeface="Calibri"/>
                <a:sym typeface="Calibri"/>
              </a:rPr>
              <a:t>Yikes. We need a different equation.</a:t>
            </a:r>
            <a:endParaRPr sz="3100">
              <a:solidFill>
                <a:srgbClr val="3F3F3F"/>
              </a:solidFill>
              <a:latin typeface="Calibri"/>
              <a:ea typeface="Calibri"/>
              <a:cs typeface="Calibri"/>
              <a:sym typeface="Calibri"/>
            </a:endParaRPr>
          </a:p>
          <a:p>
            <a:pPr indent="0" lvl="0" marL="0" rtl="0" algn="l">
              <a:spcBef>
                <a:spcPts val="200"/>
              </a:spcBef>
              <a:spcAft>
                <a:spcPts val="0"/>
              </a:spcAft>
              <a:buNone/>
            </a:pPr>
            <a:r>
              <a:t/>
            </a:r>
            <a:endParaRPr>
              <a:latin typeface="Calibri"/>
              <a:ea typeface="Calibri"/>
              <a:cs typeface="Calibri"/>
              <a:sym typeface="Calibri"/>
            </a:endParaRPr>
          </a:p>
        </p:txBody>
      </p:sp>
      <p:pic>
        <p:nvPicPr>
          <p:cNvPr id="424" name="Google Shape;424;g11d7b9058fb_2_131"/>
          <p:cNvPicPr preferRelativeResize="0"/>
          <p:nvPr/>
        </p:nvPicPr>
        <p:blipFill>
          <a:blip r:embed="rId5">
            <a:alphaModFix/>
          </a:blip>
          <a:stretch>
            <a:fillRect/>
          </a:stretch>
        </p:blipFill>
        <p:spPr>
          <a:xfrm>
            <a:off x="1268500" y="2597150"/>
            <a:ext cx="3946349" cy="1317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11d7b9058fb_2_141"/>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431" name="Google Shape;431;g11d7b9058fb_2_141"/>
          <p:cNvSpPr txBox="1"/>
          <p:nvPr>
            <p:ph idx="1" type="body"/>
          </p:nvPr>
        </p:nvSpPr>
        <p:spPr>
          <a:xfrm>
            <a:off x="387475" y="1887475"/>
            <a:ext cx="7420500" cy="12858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Step 2: Set up the integral, but now n = 0</a:t>
            </a:r>
            <a:endParaRPr sz="3100"/>
          </a:p>
        </p:txBody>
      </p:sp>
      <p:pic>
        <p:nvPicPr>
          <p:cNvPr id="432" name="Google Shape;432;g11d7b9058fb_2_141"/>
          <p:cNvPicPr preferRelativeResize="0"/>
          <p:nvPr/>
        </p:nvPicPr>
        <p:blipFill rotWithShape="1">
          <a:blip r:embed="rId3">
            <a:alphaModFix/>
          </a:blip>
          <a:srcRect b="64142" l="0" r="0" t="0"/>
          <a:stretch/>
        </p:blipFill>
        <p:spPr>
          <a:xfrm>
            <a:off x="136950" y="5134475"/>
            <a:ext cx="9606748" cy="1000449"/>
          </a:xfrm>
          <a:prstGeom prst="rect">
            <a:avLst/>
          </a:prstGeom>
          <a:noFill/>
          <a:ln>
            <a:noFill/>
          </a:ln>
        </p:spPr>
      </p:pic>
      <p:pic>
        <p:nvPicPr>
          <p:cNvPr id="433" name="Google Shape;433;g11d7b9058fb_2_141"/>
          <p:cNvPicPr preferRelativeResize="0"/>
          <p:nvPr/>
        </p:nvPicPr>
        <p:blipFill>
          <a:blip r:embed="rId4">
            <a:alphaModFix/>
          </a:blip>
          <a:stretch>
            <a:fillRect/>
          </a:stretch>
        </p:blipFill>
        <p:spPr>
          <a:xfrm>
            <a:off x="8036375" y="495376"/>
            <a:ext cx="4068076" cy="1843349"/>
          </a:xfrm>
          <a:prstGeom prst="rect">
            <a:avLst/>
          </a:prstGeom>
          <a:noFill/>
          <a:ln>
            <a:noFill/>
          </a:ln>
        </p:spPr>
      </p:pic>
      <p:pic>
        <p:nvPicPr>
          <p:cNvPr id="434" name="Google Shape;434;g11d7b9058fb_2_141"/>
          <p:cNvPicPr preferRelativeResize="0"/>
          <p:nvPr/>
        </p:nvPicPr>
        <p:blipFill>
          <a:blip r:embed="rId5">
            <a:alphaModFix/>
          </a:blip>
          <a:stretch>
            <a:fillRect/>
          </a:stretch>
        </p:blipFill>
        <p:spPr>
          <a:xfrm>
            <a:off x="103736" y="2715913"/>
            <a:ext cx="11984538" cy="204136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11d7b9058fb_2_182"/>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441" name="Google Shape;441;g11d7b9058fb_2_182"/>
          <p:cNvSpPr txBox="1"/>
          <p:nvPr>
            <p:ph idx="1" type="body"/>
          </p:nvPr>
        </p:nvSpPr>
        <p:spPr>
          <a:xfrm>
            <a:off x="387475" y="1887475"/>
            <a:ext cx="7420500" cy="12858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Step 2: Evaluate the integral, but now n = 0</a:t>
            </a:r>
            <a:endParaRPr sz="3100"/>
          </a:p>
        </p:txBody>
      </p:sp>
      <p:pic>
        <p:nvPicPr>
          <p:cNvPr id="442" name="Google Shape;442;g11d7b9058fb_2_182"/>
          <p:cNvPicPr preferRelativeResize="0"/>
          <p:nvPr/>
        </p:nvPicPr>
        <p:blipFill>
          <a:blip r:embed="rId3">
            <a:alphaModFix/>
          </a:blip>
          <a:stretch>
            <a:fillRect/>
          </a:stretch>
        </p:blipFill>
        <p:spPr>
          <a:xfrm>
            <a:off x="2007312" y="2451496"/>
            <a:ext cx="8177375" cy="1392875"/>
          </a:xfrm>
          <a:prstGeom prst="rect">
            <a:avLst/>
          </a:prstGeom>
          <a:noFill/>
          <a:ln>
            <a:noFill/>
          </a:ln>
        </p:spPr>
      </p:pic>
      <p:pic>
        <p:nvPicPr>
          <p:cNvPr id="443" name="Google Shape;443;g11d7b9058fb_2_182"/>
          <p:cNvPicPr preferRelativeResize="0"/>
          <p:nvPr/>
        </p:nvPicPr>
        <p:blipFill>
          <a:blip r:embed="rId4">
            <a:alphaModFix/>
          </a:blip>
          <a:stretch>
            <a:fillRect/>
          </a:stretch>
        </p:blipFill>
        <p:spPr>
          <a:xfrm>
            <a:off x="4469313" y="3812648"/>
            <a:ext cx="3253376" cy="1023875"/>
          </a:xfrm>
          <a:prstGeom prst="rect">
            <a:avLst/>
          </a:prstGeom>
          <a:noFill/>
          <a:ln>
            <a:noFill/>
          </a:ln>
        </p:spPr>
      </p:pic>
      <p:pic>
        <p:nvPicPr>
          <p:cNvPr id="444" name="Google Shape;444;g11d7b9058fb_2_182"/>
          <p:cNvPicPr preferRelativeResize="0"/>
          <p:nvPr/>
        </p:nvPicPr>
        <p:blipFill>
          <a:blip r:embed="rId5">
            <a:alphaModFix/>
          </a:blip>
          <a:stretch>
            <a:fillRect/>
          </a:stretch>
        </p:blipFill>
        <p:spPr>
          <a:xfrm>
            <a:off x="3098637" y="5006200"/>
            <a:ext cx="6055676" cy="120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11d7b9058fb_2_15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451" name="Google Shape;451;g11d7b9058fb_2_150"/>
          <p:cNvSpPr txBox="1"/>
          <p:nvPr>
            <p:ph idx="1" type="body"/>
          </p:nvPr>
        </p:nvSpPr>
        <p:spPr>
          <a:xfrm>
            <a:off x="387475" y="1887475"/>
            <a:ext cx="7420500" cy="12858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Now we’re done!</a:t>
            </a:r>
            <a:endParaRPr sz="3100"/>
          </a:p>
        </p:txBody>
      </p:sp>
      <p:pic>
        <p:nvPicPr>
          <p:cNvPr id="452" name="Google Shape;452;g11d7b9058fb_2_150"/>
          <p:cNvPicPr preferRelativeResize="0"/>
          <p:nvPr/>
        </p:nvPicPr>
        <p:blipFill rotWithShape="1">
          <a:blip r:embed="rId3">
            <a:alphaModFix/>
          </a:blip>
          <a:srcRect b="64142" l="0" r="0" t="0"/>
          <a:stretch/>
        </p:blipFill>
        <p:spPr>
          <a:xfrm>
            <a:off x="136950" y="5134475"/>
            <a:ext cx="9606748" cy="1000449"/>
          </a:xfrm>
          <a:prstGeom prst="rect">
            <a:avLst/>
          </a:prstGeom>
          <a:noFill/>
          <a:ln>
            <a:noFill/>
          </a:ln>
        </p:spPr>
      </p:pic>
      <p:pic>
        <p:nvPicPr>
          <p:cNvPr id="453" name="Google Shape;453;g11d7b9058fb_2_150"/>
          <p:cNvPicPr preferRelativeResize="0"/>
          <p:nvPr/>
        </p:nvPicPr>
        <p:blipFill>
          <a:blip r:embed="rId4">
            <a:alphaModFix/>
          </a:blip>
          <a:stretch>
            <a:fillRect/>
          </a:stretch>
        </p:blipFill>
        <p:spPr>
          <a:xfrm>
            <a:off x="8036375" y="495376"/>
            <a:ext cx="4068076" cy="1843349"/>
          </a:xfrm>
          <a:prstGeom prst="rect">
            <a:avLst/>
          </a:prstGeom>
          <a:noFill/>
          <a:ln>
            <a:noFill/>
          </a:ln>
        </p:spPr>
      </p:pic>
      <p:pic>
        <p:nvPicPr>
          <p:cNvPr id="454" name="Google Shape;454;g11d7b9058fb_2_150"/>
          <p:cNvPicPr preferRelativeResize="0"/>
          <p:nvPr/>
        </p:nvPicPr>
        <p:blipFill>
          <a:blip r:embed="rId5">
            <a:alphaModFix/>
          </a:blip>
          <a:stretch>
            <a:fillRect/>
          </a:stretch>
        </p:blipFill>
        <p:spPr>
          <a:xfrm>
            <a:off x="6264975" y="2776988"/>
            <a:ext cx="3946349" cy="1317875"/>
          </a:xfrm>
          <a:prstGeom prst="rect">
            <a:avLst/>
          </a:prstGeom>
          <a:noFill/>
          <a:ln>
            <a:noFill/>
          </a:ln>
        </p:spPr>
      </p:pic>
      <p:pic>
        <p:nvPicPr>
          <p:cNvPr id="455" name="Google Shape;455;g11d7b9058fb_2_150"/>
          <p:cNvPicPr preferRelativeResize="0"/>
          <p:nvPr/>
        </p:nvPicPr>
        <p:blipFill>
          <a:blip r:embed="rId6">
            <a:alphaModFix/>
          </a:blip>
          <a:stretch>
            <a:fillRect/>
          </a:stretch>
        </p:blipFill>
        <p:spPr>
          <a:xfrm>
            <a:off x="1029225" y="3173288"/>
            <a:ext cx="2219325" cy="666750"/>
          </a:xfrm>
          <a:prstGeom prst="rect">
            <a:avLst/>
          </a:prstGeom>
          <a:noFill/>
          <a:ln>
            <a:noFill/>
          </a:ln>
        </p:spPr>
      </p:pic>
      <p:pic>
        <p:nvPicPr>
          <p:cNvPr id="456" name="Google Shape;456;g11d7b9058fb_2_150"/>
          <p:cNvPicPr preferRelativeResize="0"/>
          <p:nvPr/>
        </p:nvPicPr>
        <p:blipFill>
          <a:blip r:embed="rId7">
            <a:alphaModFix/>
          </a:blip>
          <a:stretch>
            <a:fillRect/>
          </a:stretch>
        </p:blipFill>
        <p:spPr>
          <a:xfrm>
            <a:off x="3950275" y="4094875"/>
            <a:ext cx="2410149" cy="8912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11d7b9058fb_2_19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Solution</a:t>
            </a:r>
            <a:endParaRPr/>
          </a:p>
        </p:txBody>
      </p:sp>
      <p:sp>
        <p:nvSpPr>
          <p:cNvPr id="463" name="Google Shape;463;g11d7b9058fb_2_195"/>
          <p:cNvSpPr txBox="1"/>
          <p:nvPr>
            <p:ph idx="1" type="body"/>
          </p:nvPr>
        </p:nvSpPr>
        <p:spPr>
          <a:xfrm>
            <a:off x="387475" y="1887475"/>
            <a:ext cx="7420500" cy="12858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100"/>
              <a:t>Now we’re done!</a:t>
            </a:r>
            <a:endParaRPr sz="3100"/>
          </a:p>
        </p:txBody>
      </p:sp>
      <p:pic>
        <p:nvPicPr>
          <p:cNvPr id="464" name="Google Shape;464;g11d7b9058fb_2_195"/>
          <p:cNvPicPr preferRelativeResize="0"/>
          <p:nvPr/>
        </p:nvPicPr>
        <p:blipFill rotWithShape="1">
          <a:blip r:embed="rId3">
            <a:alphaModFix/>
          </a:blip>
          <a:srcRect b="64142" l="0" r="0" t="0"/>
          <a:stretch/>
        </p:blipFill>
        <p:spPr>
          <a:xfrm>
            <a:off x="136950" y="5134475"/>
            <a:ext cx="9606748" cy="1000449"/>
          </a:xfrm>
          <a:prstGeom prst="rect">
            <a:avLst/>
          </a:prstGeom>
          <a:noFill/>
          <a:ln>
            <a:noFill/>
          </a:ln>
        </p:spPr>
      </p:pic>
      <p:pic>
        <p:nvPicPr>
          <p:cNvPr id="465" name="Google Shape;465;g11d7b9058fb_2_195"/>
          <p:cNvPicPr preferRelativeResize="0"/>
          <p:nvPr/>
        </p:nvPicPr>
        <p:blipFill>
          <a:blip r:embed="rId4">
            <a:alphaModFix/>
          </a:blip>
          <a:stretch>
            <a:fillRect/>
          </a:stretch>
        </p:blipFill>
        <p:spPr>
          <a:xfrm>
            <a:off x="8036375" y="495376"/>
            <a:ext cx="4068076" cy="1843349"/>
          </a:xfrm>
          <a:prstGeom prst="rect">
            <a:avLst/>
          </a:prstGeom>
          <a:noFill/>
          <a:ln>
            <a:noFill/>
          </a:ln>
        </p:spPr>
      </p:pic>
      <p:pic>
        <p:nvPicPr>
          <p:cNvPr id="466" name="Google Shape;466;g11d7b9058fb_2_195"/>
          <p:cNvPicPr preferRelativeResize="0"/>
          <p:nvPr/>
        </p:nvPicPr>
        <p:blipFill>
          <a:blip r:embed="rId5">
            <a:alphaModFix/>
          </a:blip>
          <a:stretch>
            <a:fillRect/>
          </a:stretch>
        </p:blipFill>
        <p:spPr>
          <a:xfrm>
            <a:off x="182875" y="3173275"/>
            <a:ext cx="11887202" cy="157234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11d7b9058fb_2_48"/>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473" name="Google Shape;473;g11d7b9058fb_2_48"/>
          <p:cNvSpPr txBox="1"/>
          <p:nvPr>
            <p:ph idx="1" type="body"/>
          </p:nvPr>
        </p:nvSpPr>
        <p:spPr>
          <a:xfrm>
            <a:off x="1097275" y="1845724"/>
            <a:ext cx="10058400" cy="4570500"/>
          </a:xfrm>
          <a:prstGeom prst="rect">
            <a:avLst/>
          </a:prstGeom>
        </p:spPr>
        <p:txBody>
          <a:bodyPr anchorCtr="0" anchor="t" bIns="45700" lIns="0" spcFirstLastPara="1" rIns="0" wrap="square" tIns="45700">
            <a:normAutofit lnSpcReduction="10000"/>
          </a:bodyPr>
          <a:lstStyle/>
          <a:p>
            <a:pPr indent="0" lvl="0" marL="0" rtl="0" algn="l">
              <a:spcBef>
                <a:spcPts val="1200"/>
              </a:spcBef>
              <a:spcAft>
                <a:spcPts val="0"/>
              </a:spcAft>
              <a:buNone/>
            </a:pPr>
            <a:r>
              <a:rPr lang="en-US" sz="3400"/>
              <a:t>Now we pass f(t) through a linear system with the following frequency response:</a:t>
            </a:r>
            <a:endParaRPr sz="3400"/>
          </a:p>
          <a:p>
            <a:pPr indent="0" lvl="0" marL="0" rtl="0" algn="l">
              <a:spcBef>
                <a:spcPts val="1200"/>
              </a:spcBef>
              <a:spcAft>
                <a:spcPts val="0"/>
              </a:spcAft>
              <a:buNone/>
            </a:pPr>
            <a:r>
              <a:t/>
            </a:r>
            <a:endParaRPr sz="3400"/>
          </a:p>
          <a:p>
            <a:pPr indent="0" lvl="0" marL="0" rtl="0" algn="l">
              <a:spcBef>
                <a:spcPts val="1200"/>
              </a:spcBef>
              <a:spcAft>
                <a:spcPts val="0"/>
              </a:spcAft>
              <a:buNone/>
            </a:pPr>
            <a:r>
              <a:t/>
            </a:r>
            <a:endParaRPr sz="3400"/>
          </a:p>
          <a:p>
            <a:pPr indent="0" lvl="0" marL="0" rtl="0" algn="l">
              <a:spcBef>
                <a:spcPts val="1200"/>
              </a:spcBef>
              <a:spcAft>
                <a:spcPts val="0"/>
              </a:spcAft>
              <a:buNone/>
            </a:pPr>
            <a:r>
              <a:t/>
            </a:r>
            <a:endParaRPr sz="3400"/>
          </a:p>
          <a:p>
            <a:pPr indent="0" lvl="0" marL="0" rtl="0" algn="l">
              <a:spcBef>
                <a:spcPts val="1200"/>
              </a:spcBef>
              <a:spcAft>
                <a:spcPts val="0"/>
              </a:spcAft>
              <a:buNone/>
            </a:pPr>
            <a:r>
              <a:t/>
            </a:r>
            <a:endParaRPr sz="3400"/>
          </a:p>
          <a:p>
            <a:pPr indent="0" lvl="0" marL="0" rtl="0" algn="l">
              <a:spcBef>
                <a:spcPts val="1200"/>
              </a:spcBef>
              <a:spcAft>
                <a:spcPts val="0"/>
              </a:spcAft>
              <a:buNone/>
            </a:pPr>
            <a:r>
              <a:t/>
            </a:r>
            <a:endParaRPr sz="3400"/>
          </a:p>
          <a:p>
            <a:pPr indent="0" lvl="0" marL="0" rtl="0" algn="l">
              <a:spcBef>
                <a:spcPts val="1200"/>
              </a:spcBef>
              <a:spcAft>
                <a:spcPts val="200"/>
              </a:spcAft>
              <a:buNone/>
            </a:pPr>
            <a:r>
              <a:rPr lang="en-US" sz="3400"/>
              <a:t>What is the output y(t)?</a:t>
            </a:r>
            <a:endParaRPr sz="3400"/>
          </a:p>
        </p:txBody>
      </p:sp>
      <p:pic>
        <p:nvPicPr>
          <p:cNvPr id="474" name="Google Shape;474;g11d7b9058fb_2_48"/>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475" name="Google Shape;475;g11d7b9058fb_2_48"/>
          <p:cNvPicPr preferRelativeResize="0"/>
          <p:nvPr/>
        </p:nvPicPr>
        <p:blipFill>
          <a:blip r:embed="rId4">
            <a:alphaModFix/>
          </a:blip>
          <a:stretch>
            <a:fillRect/>
          </a:stretch>
        </p:blipFill>
        <p:spPr>
          <a:xfrm>
            <a:off x="5450050" y="2831500"/>
            <a:ext cx="6647327" cy="30279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11d7b9058fb_2_209"/>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482" name="Google Shape;482;g11d7b9058fb_2_209"/>
          <p:cNvSpPr txBox="1"/>
          <p:nvPr>
            <p:ph idx="1" type="body"/>
          </p:nvPr>
        </p:nvSpPr>
        <p:spPr>
          <a:xfrm>
            <a:off x="570625" y="1845725"/>
            <a:ext cx="4879500" cy="45705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3400"/>
              <a:t>What is the output y(t)?</a:t>
            </a:r>
            <a:endParaRPr sz="3400"/>
          </a:p>
          <a:p>
            <a:pPr indent="0" lvl="0" marL="0" rtl="0" algn="l">
              <a:spcBef>
                <a:spcPts val="1200"/>
              </a:spcBef>
              <a:spcAft>
                <a:spcPts val="0"/>
              </a:spcAft>
              <a:buNone/>
            </a:pPr>
            <a:r>
              <a:t/>
            </a:r>
            <a:endParaRPr sz="3400"/>
          </a:p>
          <a:p>
            <a:pPr indent="0" lvl="0" marL="0" rtl="0" algn="l">
              <a:spcBef>
                <a:spcPts val="1200"/>
              </a:spcBef>
              <a:spcAft>
                <a:spcPts val="200"/>
              </a:spcAft>
              <a:buNone/>
            </a:pPr>
            <a:r>
              <a:rPr lang="en-US" sz="3400"/>
              <a:t>Step 1: What actually are the frequencies in f(t)?</a:t>
            </a:r>
            <a:endParaRPr sz="3400"/>
          </a:p>
        </p:txBody>
      </p:sp>
      <p:pic>
        <p:nvPicPr>
          <p:cNvPr id="483" name="Google Shape;483;g11d7b9058fb_2_209"/>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484" name="Google Shape;484;g11d7b9058fb_2_209"/>
          <p:cNvPicPr preferRelativeResize="0"/>
          <p:nvPr/>
        </p:nvPicPr>
        <p:blipFill>
          <a:blip r:embed="rId4">
            <a:alphaModFix/>
          </a:blip>
          <a:stretch>
            <a:fillRect/>
          </a:stretch>
        </p:blipFill>
        <p:spPr>
          <a:xfrm>
            <a:off x="5449975" y="2617025"/>
            <a:ext cx="6647327" cy="30279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11d7b9058fb_2_21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491" name="Google Shape;491;g11d7b9058fb_2_217"/>
          <p:cNvSpPr txBox="1"/>
          <p:nvPr>
            <p:ph idx="1" type="body"/>
          </p:nvPr>
        </p:nvSpPr>
        <p:spPr>
          <a:xfrm>
            <a:off x="417525" y="1845725"/>
            <a:ext cx="5032500" cy="45705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3400"/>
              <a:t>What is the output y(t)?</a:t>
            </a:r>
            <a:endParaRPr sz="3400"/>
          </a:p>
          <a:p>
            <a:pPr indent="0" lvl="0" marL="0" rtl="0" algn="l">
              <a:spcBef>
                <a:spcPts val="1200"/>
              </a:spcBef>
              <a:spcAft>
                <a:spcPts val="0"/>
              </a:spcAft>
              <a:buNone/>
            </a:pPr>
            <a:r>
              <a:t/>
            </a:r>
            <a:endParaRPr sz="3400"/>
          </a:p>
          <a:p>
            <a:pPr indent="0" lvl="0" marL="0" rtl="0" algn="l">
              <a:spcBef>
                <a:spcPts val="1200"/>
              </a:spcBef>
              <a:spcAft>
                <a:spcPts val="0"/>
              </a:spcAft>
              <a:buNone/>
            </a:pPr>
            <a:r>
              <a:rPr lang="en-US" sz="3400"/>
              <a:t>Step 1: What actually are the frequencies in f(t)?</a:t>
            </a:r>
            <a:endParaRPr sz="3400"/>
          </a:p>
          <a:p>
            <a:pPr indent="0" lvl="0" marL="0" rtl="0" algn="l">
              <a:spcBef>
                <a:spcPts val="1200"/>
              </a:spcBef>
              <a:spcAft>
                <a:spcPts val="0"/>
              </a:spcAft>
              <a:buNone/>
            </a:pPr>
            <a:r>
              <a:t/>
            </a:r>
            <a:endParaRPr sz="3400"/>
          </a:p>
          <a:p>
            <a:pPr indent="0" lvl="0" marL="0" rtl="0" algn="l">
              <a:spcBef>
                <a:spcPts val="1200"/>
              </a:spcBef>
              <a:spcAft>
                <a:spcPts val="200"/>
              </a:spcAft>
              <a:buNone/>
            </a:pPr>
            <a:r>
              <a:rPr lang="en-US" sz="3400"/>
              <a:t>Answer: w = all integers! </a:t>
            </a:r>
            <a:endParaRPr sz="3400"/>
          </a:p>
        </p:txBody>
      </p:sp>
      <p:pic>
        <p:nvPicPr>
          <p:cNvPr id="492" name="Google Shape;492;g11d7b9058fb_2_217"/>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493" name="Google Shape;493;g11d7b9058fb_2_217"/>
          <p:cNvPicPr preferRelativeResize="0"/>
          <p:nvPr/>
        </p:nvPicPr>
        <p:blipFill>
          <a:blip r:embed="rId4">
            <a:alphaModFix/>
          </a:blip>
          <a:stretch>
            <a:fillRect/>
          </a:stretch>
        </p:blipFill>
        <p:spPr>
          <a:xfrm>
            <a:off x="5449975" y="2617025"/>
            <a:ext cx="6647327" cy="30279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11d7b9058fb_2_22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00" name="Google Shape;500;g11d7b9058fb_2_225"/>
          <p:cNvSpPr txBox="1"/>
          <p:nvPr>
            <p:ph idx="1" type="body"/>
          </p:nvPr>
        </p:nvSpPr>
        <p:spPr>
          <a:xfrm>
            <a:off x="417525" y="1845725"/>
            <a:ext cx="5032500" cy="45705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3400"/>
              <a:t>What is the output y(t)?</a:t>
            </a:r>
            <a:endParaRPr sz="3400"/>
          </a:p>
          <a:p>
            <a:pPr indent="0" lvl="0" marL="0" rtl="0" algn="l">
              <a:spcBef>
                <a:spcPts val="1200"/>
              </a:spcBef>
              <a:spcAft>
                <a:spcPts val="0"/>
              </a:spcAft>
              <a:buNone/>
            </a:pPr>
            <a:r>
              <a:t/>
            </a:r>
            <a:endParaRPr sz="3400"/>
          </a:p>
          <a:p>
            <a:pPr indent="0" lvl="0" marL="0" rtl="0" algn="l">
              <a:spcBef>
                <a:spcPts val="1200"/>
              </a:spcBef>
              <a:spcAft>
                <a:spcPts val="200"/>
              </a:spcAft>
              <a:buClr>
                <a:schemeClr val="dk1"/>
              </a:buClr>
              <a:buSzPts val="1100"/>
              <a:buFont typeface="Arial"/>
              <a:buNone/>
            </a:pPr>
            <a:r>
              <a:rPr lang="en-US" sz="3400"/>
              <a:t>Step 2: What frequencies will survive the filter?</a:t>
            </a:r>
            <a:endParaRPr sz="3400"/>
          </a:p>
        </p:txBody>
      </p:sp>
      <p:pic>
        <p:nvPicPr>
          <p:cNvPr id="501" name="Google Shape;501;g11d7b9058fb_2_225"/>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502" name="Google Shape;502;g11d7b9058fb_2_225"/>
          <p:cNvPicPr preferRelativeResize="0"/>
          <p:nvPr/>
        </p:nvPicPr>
        <p:blipFill>
          <a:blip r:embed="rId4">
            <a:alphaModFix/>
          </a:blip>
          <a:stretch>
            <a:fillRect/>
          </a:stretch>
        </p:blipFill>
        <p:spPr>
          <a:xfrm>
            <a:off x="5449975" y="2617025"/>
            <a:ext cx="6647327" cy="302790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11d7b9058fb_2_233"/>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09" name="Google Shape;509;g11d7b9058fb_2_233"/>
          <p:cNvSpPr txBox="1"/>
          <p:nvPr>
            <p:ph idx="1" type="body"/>
          </p:nvPr>
        </p:nvSpPr>
        <p:spPr>
          <a:xfrm>
            <a:off x="417525" y="1845725"/>
            <a:ext cx="5032500" cy="4570500"/>
          </a:xfrm>
          <a:prstGeom prst="rect">
            <a:avLst/>
          </a:prstGeom>
        </p:spPr>
        <p:txBody>
          <a:bodyPr anchorCtr="0" anchor="t" bIns="45700" lIns="0" spcFirstLastPara="1" rIns="0" wrap="square" tIns="45700">
            <a:normAutofit lnSpcReduction="20000"/>
          </a:bodyPr>
          <a:lstStyle/>
          <a:p>
            <a:pPr indent="0" lvl="0" marL="0" rtl="0" algn="l">
              <a:spcBef>
                <a:spcPts val="1200"/>
              </a:spcBef>
              <a:spcAft>
                <a:spcPts val="0"/>
              </a:spcAft>
              <a:buNone/>
            </a:pPr>
            <a:r>
              <a:rPr lang="en-US" sz="3400"/>
              <a:t>What is the output y(t)?</a:t>
            </a:r>
            <a:endParaRPr sz="3400"/>
          </a:p>
          <a:p>
            <a:pPr indent="0" lvl="0" marL="0" rtl="0" algn="l">
              <a:spcBef>
                <a:spcPts val="1200"/>
              </a:spcBef>
              <a:spcAft>
                <a:spcPts val="0"/>
              </a:spcAft>
              <a:buNone/>
            </a:pPr>
            <a:r>
              <a:t/>
            </a:r>
            <a:endParaRPr sz="3400"/>
          </a:p>
          <a:p>
            <a:pPr indent="0" lvl="0" marL="0" rtl="0" algn="l">
              <a:spcBef>
                <a:spcPts val="1200"/>
              </a:spcBef>
              <a:spcAft>
                <a:spcPts val="0"/>
              </a:spcAft>
              <a:buNone/>
            </a:pPr>
            <a:r>
              <a:rPr lang="en-US" sz="3400"/>
              <a:t>Step 2: What frequencies will survive the filter?</a:t>
            </a:r>
            <a:endParaRPr sz="3400"/>
          </a:p>
          <a:p>
            <a:pPr indent="0" lvl="0" marL="0" rtl="0" algn="l">
              <a:spcBef>
                <a:spcPts val="1200"/>
              </a:spcBef>
              <a:spcAft>
                <a:spcPts val="0"/>
              </a:spcAft>
              <a:buNone/>
            </a:pPr>
            <a:r>
              <a:t/>
            </a:r>
            <a:endParaRPr sz="3400"/>
          </a:p>
          <a:p>
            <a:pPr indent="0" lvl="0" marL="0" rtl="0" algn="l">
              <a:spcBef>
                <a:spcPts val="1200"/>
              </a:spcBef>
              <a:spcAft>
                <a:spcPts val="0"/>
              </a:spcAft>
              <a:buNone/>
            </a:pPr>
            <a:r>
              <a:rPr lang="en-US" sz="3400"/>
              <a:t>Answer</a:t>
            </a:r>
            <a:r>
              <a:rPr lang="en-US" sz="3400"/>
              <a:t>: -3.7 to -3.3, -1.5 to 1.5, 2.5 to 3.5.</a:t>
            </a:r>
            <a:endParaRPr sz="3400"/>
          </a:p>
          <a:p>
            <a:pPr indent="0" lvl="0" marL="0" rtl="0" algn="l">
              <a:spcBef>
                <a:spcPts val="1200"/>
              </a:spcBef>
              <a:spcAft>
                <a:spcPts val="200"/>
              </a:spcAft>
              <a:buNone/>
            </a:pPr>
            <a:r>
              <a:rPr lang="en-US" sz="3400"/>
              <a:t>(Note that these are just guesses)</a:t>
            </a:r>
            <a:endParaRPr sz="3400"/>
          </a:p>
        </p:txBody>
      </p:sp>
      <p:pic>
        <p:nvPicPr>
          <p:cNvPr id="510" name="Google Shape;510;g11d7b9058fb_2_233"/>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511" name="Google Shape;511;g11d7b9058fb_2_233"/>
          <p:cNvPicPr preferRelativeResize="0"/>
          <p:nvPr/>
        </p:nvPicPr>
        <p:blipFill>
          <a:blip r:embed="rId4">
            <a:alphaModFix/>
          </a:blip>
          <a:stretch>
            <a:fillRect/>
          </a:stretch>
        </p:blipFill>
        <p:spPr>
          <a:xfrm>
            <a:off x="5449975" y="2617025"/>
            <a:ext cx="6647327" cy="302790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11d7b9058fb_2_273"/>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18" name="Google Shape;518;g11d7b9058fb_2_273"/>
          <p:cNvSpPr txBox="1"/>
          <p:nvPr>
            <p:ph idx="1" type="body"/>
          </p:nvPr>
        </p:nvSpPr>
        <p:spPr>
          <a:xfrm>
            <a:off x="417525" y="1845725"/>
            <a:ext cx="5032500" cy="45705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3400"/>
              <a:t>What is the output y(t)?</a:t>
            </a:r>
            <a:endParaRPr sz="3400"/>
          </a:p>
          <a:p>
            <a:pPr indent="0" lvl="0" marL="0" rtl="0" algn="l">
              <a:spcBef>
                <a:spcPts val="1200"/>
              </a:spcBef>
              <a:spcAft>
                <a:spcPts val="0"/>
              </a:spcAft>
              <a:buNone/>
            </a:pPr>
            <a:r>
              <a:t/>
            </a:r>
            <a:endParaRPr sz="3400"/>
          </a:p>
          <a:p>
            <a:pPr indent="0" lvl="0" marL="0" rtl="0" algn="l">
              <a:spcBef>
                <a:spcPts val="1200"/>
              </a:spcBef>
              <a:spcAft>
                <a:spcPts val="200"/>
              </a:spcAft>
              <a:buNone/>
            </a:pPr>
            <a:r>
              <a:rPr lang="en-US" sz="3400"/>
              <a:t>Step 3: What values of n survive the filter?</a:t>
            </a:r>
            <a:endParaRPr sz="3400"/>
          </a:p>
        </p:txBody>
      </p:sp>
      <p:pic>
        <p:nvPicPr>
          <p:cNvPr id="519" name="Google Shape;519;g11d7b9058fb_2_273"/>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520" name="Google Shape;520;g11d7b9058fb_2_273"/>
          <p:cNvPicPr preferRelativeResize="0"/>
          <p:nvPr/>
        </p:nvPicPr>
        <p:blipFill>
          <a:blip r:embed="rId4">
            <a:alphaModFix/>
          </a:blip>
          <a:stretch>
            <a:fillRect/>
          </a:stretch>
        </p:blipFill>
        <p:spPr>
          <a:xfrm>
            <a:off x="5449975" y="2617025"/>
            <a:ext cx="6647327" cy="30279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11d7b9058fb_2_281"/>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27" name="Google Shape;527;g11d7b9058fb_2_281"/>
          <p:cNvSpPr txBox="1"/>
          <p:nvPr>
            <p:ph idx="1" type="body"/>
          </p:nvPr>
        </p:nvSpPr>
        <p:spPr>
          <a:xfrm>
            <a:off x="417525" y="1845725"/>
            <a:ext cx="5032500" cy="45705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3400"/>
              <a:t>What is the output y(t)?</a:t>
            </a:r>
            <a:endParaRPr sz="3400"/>
          </a:p>
          <a:p>
            <a:pPr indent="0" lvl="0" marL="0" rtl="0" algn="l">
              <a:spcBef>
                <a:spcPts val="1200"/>
              </a:spcBef>
              <a:spcAft>
                <a:spcPts val="0"/>
              </a:spcAft>
              <a:buNone/>
            </a:pPr>
            <a:r>
              <a:t/>
            </a:r>
            <a:endParaRPr sz="3400"/>
          </a:p>
          <a:p>
            <a:pPr indent="0" lvl="0" marL="0" rtl="0" algn="l">
              <a:spcBef>
                <a:spcPts val="1200"/>
              </a:spcBef>
              <a:spcAft>
                <a:spcPts val="0"/>
              </a:spcAft>
              <a:buNone/>
            </a:pPr>
            <a:r>
              <a:rPr lang="en-US" sz="3400"/>
              <a:t>Step 3: What values of n survive the filter?</a:t>
            </a:r>
            <a:endParaRPr sz="3400"/>
          </a:p>
          <a:p>
            <a:pPr indent="0" lvl="0" marL="0" rtl="0" algn="l">
              <a:spcBef>
                <a:spcPts val="1200"/>
              </a:spcBef>
              <a:spcAft>
                <a:spcPts val="0"/>
              </a:spcAft>
              <a:buNone/>
            </a:pPr>
            <a:r>
              <a:t/>
            </a:r>
            <a:endParaRPr sz="3400"/>
          </a:p>
          <a:p>
            <a:pPr indent="0" lvl="0" marL="0" rtl="0" algn="l">
              <a:spcBef>
                <a:spcPts val="1200"/>
              </a:spcBef>
              <a:spcAft>
                <a:spcPts val="200"/>
              </a:spcAft>
              <a:buNone/>
            </a:pPr>
            <a:r>
              <a:rPr lang="en-US" sz="3400"/>
              <a:t>n = -1, 0, 1, 3. Everything else is multiplied by 0 and thus goes away!</a:t>
            </a:r>
            <a:endParaRPr sz="3400"/>
          </a:p>
        </p:txBody>
      </p:sp>
      <p:pic>
        <p:nvPicPr>
          <p:cNvPr id="528" name="Google Shape;528;g11d7b9058fb_2_281"/>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529" name="Google Shape;529;g11d7b9058fb_2_281"/>
          <p:cNvPicPr preferRelativeResize="0"/>
          <p:nvPr/>
        </p:nvPicPr>
        <p:blipFill>
          <a:blip r:embed="rId4">
            <a:alphaModFix/>
          </a:blip>
          <a:stretch>
            <a:fillRect/>
          </a:stretch>
        </p:blipFill>
        <p:spPr>
          <a:xfrm>
            <a:off x="5449975" y="2617025"/>
            <a:ext cx="6647327" cy="302790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11d7b9058fb_2_25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36" name="Google Shape;536;g11d7b9058fb_2_257"/>
          <p:cNvSpPr txBox="1"/>
          <p:nvPr>
            <p:ph idx="1" type="body"/>
          </p:nvPr>
        </p:nvSpPr>
        <p:spPr>
          <a:xfrm>
            <a:off x="417525" y="1845725"/>
            <a:ext cx="5032500" cy="45705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3400"/>
              <a:t>What is the output y(t)?</a:t>
            </a:r>
            <a:endParaRPr sz="3400"/>
          </a:p>
          <a:p>
            <a:pPr indent="0" lvl="0" marL="0" rtl="0" algn="l">
              <a:spcBef>
                <a:spcPts val="1200"/>
              </a:spcBef>
              <a:spcAft>
                <a:spcPts val="0"/>
              </a:spcAft>
              <a:buNone/>
            </a:pPr>
            <a:r>
              <a:t/>
            </a:r>
            <a:endParaRPr sz="3400"/>
          </a:p>
          <a:p>
            <a:pPr indent="0" lvl="0" marL="0" rtl="0" algn="l">
              <a:spcBef>
                <a:spcPts val="1200"/>
              </a:spcBef>
              <a:spcAft>
                <a:spcPts val="200"/>
              </a:spcAft>
              <a:buNone/>
            </a:pPr>
            <a:r>
              <a:rPr lang="en-US" sz="3400"/>
              <a:t>Step 4: Now calculate Y = HF only at n = -1, 0, 1, and 3.</a:t>
            </a:r>
            <a:endParaRPr sz="3400"/>
          </a:p>
        </p:txBody>
      </p:sp>
      <p:pic>
        <p:nvPicPr>
          <p:cNvPr id="537" name="Google Shape;537;g11d7b9058fb_2_257"/>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538" name="Google Shape;538;g11d7b9058fb_2_257"/>
          <p:cNvPicPr preferRelativeResize="0"/>
          <p:nvPr/>
        </p:nvPicPr>
        <p:blipFill>
          <a:blip r:embed="rId4">
            <a:alphaModFix/>
          </a:blip>
          <a:stretch>
            <a:fillRect/>
          </a:stretch>
        </p:blipFill>
        <p:spPr>
          <a:xfrm>
            <a:off x="5449975" y="2617025"/>
            <a:ext cx="6647327" cy="30279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g11d7b9058fb_2_26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45" name="Google Shape;545;g11d7b9058fb_2_265"/>
          <p:cNvSpPr txBox="1"/>
          <p:nvPr>
            <p:ph idx="1" type="body"/>
          </p:nvPr>
        </p:nvSpPr>
        <p:spPr>
          <a:xfrm>
            <a:off x="417525" y="1845725"/>
            <a:ext cx="10869900" cy="45705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400"/>
              <a:t>Step 4: Now calculate Y = HF only at n = -1, 0, 1, and 3.</a:t>
            </a:r>
            <a:endParaRPr sz="3400"/>
          </a:p>
        </p:txBody>
      </p:sp>
      <p:pic>
        <p:nvPicPr>
          <p:cNvPr id="546" name="Google Shape;546;g11d7b9058fb_2_265"/>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547" name="Google Shape;547;g11d7b9058fb_2_265"/>
          <p:cNvPicPr preferRelativeResize="0"/>
          <p:nvPr/>
        </p:nvPicPr>
        <p:blipFill>
          <a:blip r:embed="rId4">
            <a:alphaModFix/>
          </a:blip>
          <a:stretch>
            <a:fillRect/>
          </a:stretch>
        </p:blipFill>
        <p:spPr>
          <a:xfrm>
            <a:off x="5544675" y="3173750"/>
            <a:ext cx="6647327" cy="3027901"/>
          </a:xfrm>
          <a:prstGeom prst="rect">
            <a:avLst/>
          </a:prstGeom>
          <a:noFill/>
          <a:ln>
            <a:noFill/>
          </a:ln>
        </p:spPr>
      </p:pic>
      <p:pic>
        <p:nvPicPr>
          <p:cNvPr id="548" name="Google Shape;548;g11d7b9058fb_2_265"/>
          <p:cNvPicPr preferRelativeResize="0"/>
          <p:nvPr/>
        </p:nvPicPr>
        <p:blipFill>
          <a:blip r:embed="rId5">
            <a:alphaModFix/>
          </a:blip>
          <a:stretch>
            <a:fillRect/>
          </a:stretch>
        </p:blipFill>
        <p:spPr>
          <a:xfrm>
            <a:off x="317995" y="2418580"/>
            <a:ext cx="4682625" cy="1058439"/>
          </a:xfrm>
          <a:prstGeom prst="rect">
            <a:avLst/>
          </a:prstGeom>
          <a:noFill/>
          <a:ln>
            <a:noFill/>
          </a:ln>
        </p:spPr>
      </p:pic>
      <p:pic>
        <p:nvPicPr>
          <p:cNvPr id="549" name="Google Shape;549;g11d7b9058fb_2_265"/>
          <p:cNvPicPr preferRelativeResize="0"/>
          <p:nvPr/>
        </p:nvPicPr>
        <p:blipFill>
          <a:blip r:embed="rId6">
            <a:alphaModFix/>
          </a:blip>
          <a:stretch>
            <a:fillRect/>
          </a:stretch>
        </p:blipFill>
        <p:spPr>
          <a:xfrm>
            <a:off x="225666" y="3601744"/>
            <a:ext cx="4111884" cy="1058450"/>
          </a:xfrm>
          <a:prstGeom prst="rect">
            <a:avLst/>
          </a:prstGeom>
          <a:noFill/>
          <a:ln>
            <a:noFill/>
          </a:ln>
        </p:spPr>
      </p:pic>
      <p:pic>
        <p:nvPicPr>
          <p:cNvPr id="550" name="Google Shape;550;g11d7b9058fb_2_265"/>
          <p:cNvPicPr preferRelativeResize="0"/>
          <p:nvPr/>
        </p:nvPicPr>
        <p:blipFill>
          <a:blip r:embed="rId7">
            <a:alphaModFix/>
          </a:blip>
          <a:stretch>
            <a:fillRect/>
          </a:stretch>
        </p:blipFill>
        <p:spPr>
          <a:xfrm>
            <a:off x="225687" y="5006600"/>
            <a:ext cx="4669308" cy="1058450"/>
          </a:xfrm>
          <a:prstGeom prst="rect">
            <a:avLst/>
          </a:prstGeom>
          <a:noFill/>
          <a:ln>
            <a:noFill/>
          </a:ln>
        </p:spPr>
      </p:pic>
      <p:pic>
        <p:nvPicPr>
          <p:cNvPr id="551" name="Google Shape;551;g11d7b9058fb_2_265"/>
          <p:cNvPicPr preferRelativeResize="0"/>
          <p:nvPr/>
        </p:nvPicPr>
        <p:blipFill>
          <a:blip r:embed="rId8">
            <a:alphaModFix/>
          </a:blip>
          <a:stretch>
            <a:fillRect/>
          </a:stretch>
        </p:blipFill>
        <p:spPr>
          <a:xfrm>
            <a:off x="6199071" y="2783550"/>
            <a:ext cx="1563700" cy="469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1000"/>
                                        <p:tgtEl>
                                          <p:spTgt spid="5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1000"/>
                                        <p:tgtEl>
                                          <p:spTgt spid="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11d7b9058fb_2_29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58" name="Google Shape;558;g11d7b9058fb_2_297"/>
          <p:cNvSpPr txBox="1"/>
          <p:nvPr>
            <p:ph idx="1" type="body"/>
          </p:nvPr>
        </p:nvSpPr>
        <p:spPr>
          <a:xfrm>
            <a:off x="417525" y="1845725"/>
            <a:ext cx="10869900" cy="45705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400"/>
              <a:t>Step 4: Now calculate Y = HF only at n = -1, 0, 1, and 3.</a:t>
            </a:r>
            <a:endParaRPr sz="3400"/>
          </a:p>
        </p:txBody>
      </p:sp>
      <p:pic>
        <p:nvPicPr>
          <p:cNvPr id="559" name="Google Shape;559;g11d7b9058fb_2_297"/>
          <p:cNvPicPr preferRelativeResize="0"/>
          <p:nvPr/>
        </p:nvPicPr>
        <p:blipFill>
          <a:blip r:embed="rId3">
            <a:alphaModFix/>
          </a:blip>
          <a:stretch>
            <a:fillRect/>
          </a:stretch>
        </p:blipFill>
        <p:spPr>
          <a:xfrm>
            <a:off x="4937475" y="0"/>
            <a:ext cx="7254525" cy="959575"/>
          </a:xfrm>
          <a:prstGeom prst="rect">
            <a:avLst/>
          </a:prstGeom>
          <a:noFill/>
          <a:ln>
            <a:noFill/>
          </a:ln>
        </p:spPr>
      </p:pic>
      <p:pic>
        <p:nvPicPr>
          <p:cNvPr id="560" name="Google Shape;560;g11d7b9058fb_2_297"/>
          <p:cNvPicPr preferRelativeResize="0"/>
          <p:nvPr/>
        </p:nvPicPr>
        <p:blipFill>
          <a:blip r:embed="rId4">
            <a:alphaModFix/>
          </a:blip>
          <a:stretch>
            <a:fillRect/>
          </a:stretch>
        </p:blipFill>
        <p:spPr>
          <a:xfrm>
            <a:off x="5544675" y="3173750"/>
            <a:ext cx="6647327" cy="3027901"/>
          </a:xfrm>
          <a:prstGeom prst="rect">
            <a:avLst/>
          </a:prstGeom>
          <a:noFill/>
          <a:ln>
            <a:noFill/>
          </a:ln>
        </p:spPr>
      </p:pic>
      <p:pic>
        <p:nvPicPr>
          <p:cNvPr id="561" name="Google Shape;561;g11d7b9058fb_2_297"/>
          <p:cNvPicPr preferRelativeResize="0"/>
          <p:nvPr/>
        </p:nvPicPr>
        <p:blipFill>
          <a:blip r:embed="rId5">
            <a:alphaModFix/>
          </a:blip>
          <a:stretch>
            <a:fillRect/>
          </a:stretch>
        </p:blipFill>
        <p:spPr>
          <a:xfrm>
            <a:off x="491875" y="2532698"/>
            <a:ext cx="7553578" cy="641050"/>
          </a:xfrm>
          <a:prstGeom prst="rect">
            <a:avLst/>
          </a:prstGeom>
          <a:noFill/>
          <a:ln>
            <a:noFill/>
          </a:ln>
        </p:spPr>
      </p:pic>
      <p:pic>
        <p:nvPicPr>
          <p:cNvPr id="562" name="Google Shape;562;g11d7b9058fb_2_297"/>
          <p:cNvPicPr preferRelativeResize="0"/>
          <p:nvPr/>
        </p:nvPicPr>
        <p:blipFill>
          <a:blip r:embed="rId6">
            <a:alphaModFix/>
          </a:blip>
          <a:stretch>
            <a:fillRect/>
          </a:stretch>
        </p:blipFill>
        <p:spPr>
          <a:xfrm>
            <a:off x="1340798" y="4292400"/>
            <a:ext cx="2510136" cy="641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1000"/>
                                        <p:tgtEl>
                                          <p:spTgt spid="5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11d7b9058fb_2_311"/>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69" name="Google Shape;569;g11d7b9058fb_2_311"/>
          <p:cNvSpPr txBox="1"/>
          <p:nvPr>
            <p:ph idx="1" type="body"/>
          </p:nvPr>
        </p:nvSpPr>
        <p:spPr>
          <a:xfrm>
            <a:off x="417525" y="1845725"/>
            <a:ext cx="10869900" cy="45705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400"/>
              <a:t>Step 4: Now calculate Y = HF only at n = -1, 0, 1, and 3.</a:t>
            </a:r>
            <a:endParaRPr sz="3400"/>
          </a:p>
        </p:txBody>
      </p:sp>
      <p:pic>
        <p:nvPicPr>
          <p:cNvPr id="570" name="Google Shape;570;g11d7b9058fb_2_311"/>
          <p:cNvPicPr preferRelativeResize="0"/>
          <p:nvPr/>
        </p:nvPicPr>
        <p:blipFill>
          <a:blip r:embed="rId3">
            <a:alphaModFix/>
          </a:blip>
          <a:stretch>
            <a:fillRect/>
          </a:stretch>
        </p:blipFill>
        <p:spPr>
          <a:xfrm>
            <a:off x="5544675" y="3173750"/>
            <a:ext cx="6647327" cy="3027901"/>
          </a:xfrm>
          <a:prstGeom prst="rect">
            <a:avLst/>
          </a:prstGeom>
          <a:noFill/>
          <a:ln>
            <a:noFill/>
          </a:ln>
        </p:spPr>
      </p:pic>
      <p:pic>
        <p:nvPicPr>
          <p:cNvPr id="571" name="Google Shape;571;g11d7b9058fb_2_311"/>
          <p:cNvPicPr preferRelativeResize="0"/>
          <p:nvPr/>
        </p:nvPicPr>
        <p:blipFill>
          <a:blip r:embed="rId4">
            <a:alphaModFix/>
          </a:blip>
          <a:stretch>
            <a:fillRect/>
          </a:stretch>
        </p:blipFill>
        <p:spPr>
          <a:xfrm>
            <a:off x="194852" y="139777"/>
            <a:ext cx="3317276" cy="754050"/>
          </a:xfrm>
          <a:prstGeom prst="rect">
            <a:avLst/>
          </a:prstGeom>
          <a:noFill/>
          <a:ln>
            <a:noFill/>
          </a:ln>
        </p:spPr>
      </p:pic>
      <p:pic>
        <p:nvPicPr>
          <p:cNvPr id="572" name="Google Shape;572;g11d7b9058fb_2_311"/>
          <p:cNvPicPr preferRelativeResize="0"/>
          <p:nvPr/>
        </p:nvPicPr>
        <p:blipFill>
          <a:blip r:embed="rId5">
            <a:alphaModFix/>
          </a:blip>
          <a:stretch>
            <a:fillRect/>
          </a:stretch>
        </p:blipFill>
        <p:spPr>
          <a:xfrm>
            <a:off x="5734150" y="169274"/>
            <a:ext cx="2685025" cy="695050"/>
          </a:xfrm>
          <a:prstGeom prst="rect">
            <a:avLst/>
          </a:prstGeom>
          <a:noFill/>
          <a:ln>
            <a:noFill/>
          </a:ln>
        </p:spPr>
      </p:pic>
      <p:pic>
        <p:nvPicPr>
          <p:cNvPr id="573" name="Google Shape;573;g11d7b9058fb_2_311"/>
          <p:cNvPicPr preferRelativeResize="0"/>
          <p:nvPr/>
        </p:nvPicPr>
        <p:blipFill>
          <a:blip r:embed="rId6">
            <a:alphaModFix/>
          </a:blip>
          <a:stretch>
            <a:fillRect/>
          </a:stretch>
        </p:blipFill>
        <p:spPr>
          <a:xfrm>
            <a:off x="8884293" y="139775"/>
            <a:ext cx="3307707" cy="754050"/>
          </a:xfrm>
          <a:prstGeom prst="rect">
            <a:avLst/>
          </a:prstGeom>
          <a:noFill/>
          <a:ln>
            <a:noFill/>
          </a:ln>
        </p:spPr>
      </p:pic>
      <p:pic>
        <p:nvPicPr>
          <p:cNvPr id="574" name="Google Shape;574;g11d7b9058fb_2_311"/>
          <p:cNvPicPr preferRelativeResize="0"/>
          <p:nvPr/>
        </p:nvPicPr>
        <p:blipFill>
          <a:blip r:embed="rId7">
            <a:alphaModFix/>
          </a:blip>
          <a:stretch>
            <a:fillRect/>
          </a:stretch>
        </p:blipFill>
        <p:spPr>
          <a:xfrm>
            <a:off x="3987250" y="347623"/>
            <a:ext cx="1119925" cy="338351"/>
          </a:xfrm>
          <a:prstGeom prst="rect">
            <a:avLst/>
          </a:prstGeom>
          <a:noFill/>
          <a:ln>
            <a:noFill/>
          </a:ln>
        </p:spPr>
      </p:pic>
      <p:pic>
        <p:nvPicPr>
          <p:cNvPr id="575" name="Google Shape;575;g11d7b9058fb_2_311"/>
          <p:cNvPicPr preferRelativeResize="0"/>
          <p:nvPr/>
        </p:nvPicPr>
        <p:blipFill>
          <a:blip r:embed="rId8">
            <a:alphaModFix/>
          </a:blip>
          <a:stretch>
            <a:fillRect/>
          </a:stretch>
        </p:blipFill>
        <p:spPr>
          <a:xfrm>
            <a:off x="519312" y="2490022"/>
            <a:ext cx="2668343" cy="857500"/>
          </a:xfrm>
          <a:prstGeom prst="rect">
            <a:avLst/>
          </a:prstGeom>
          <a:noFill/>
          <a:ln>
            <a:noFill/>
          </a:ln>
        </p:spPr>
      </p:pic>
      <p:pic>
        <p:nvPicPr>
          <p:cNvPr id="576" name="Google Shape;576;g11d7b9058fb_2_311"/>
          <p:cNvPicPr preferRelativeResize="0"/>
          <p:nvPr/>
        </p:nvPicPr>
        <p:blipFill>
          <a:blip r:embed="rId9">
            <a:alphaModFix/>
          </a:blip>
          <a:stretch>
            <a:fillRect/>
          </a:stretch>
        </p:blipFill>
        <p:spPr>
          <a:xfrm>
            <a:off x="355058" y="3596950"/>
            <a:ext cx="2996825" cy="1068050"/>
          </a:xfrm>
          <a:prstGeom prst="rect">
            <a:avLst/>
          </a:prstGeom>
          <a:noFill/>
          <a:ln>
            <a:noFill/>
          </a:ln>
        </p:spPr>
      </p:pic>
      <p:pic>
        <p:nvPicPr>
          <p:cNvPr id="577" name="Google Shape;577;g11d7b9058fb_2_311"/>
          <p:cNvPicPr preferRelativeResize="0"/>
          <p:nvPr/>
        </p:nvPicPr>
        <p:blipFill>
          <a:blip r:embed="rId10">
            <a:alphaModFix/>
          </a:blip>
          <a:stretch>
            <a:fillRect/>
          </a:stretch>
        </p:blipFill>
        <p:spPr>
          <a:xfrm>
            <a:off x="5220863" y="2796513"/>
            <a:ext cx="2219325" cy="676275"/>
          </a:xfrm>
          <a:prstGeom prst="rect">
            <a:avLst/>
          </a:prstGeom>
          <a:noFill/>
          <a:ln>
            <a:noFill/>
          </a:ln>
        </p:spPr>
      </p:pic>
      <p:pic>
        <p:nvPicPr>
          <p:cNvPr id="578" name="Google Shape;578;g11d7b9058fb_2_311"/>
          <p:cNvPicPr preferRelativeResize="0"/>
          <p:nvPr/>
        </p:nvPicPr>
        <p:blipFill>
          <a:blip r:embed="rId11">
            <a:alphaModFix/>
          </a:blip>
          <a:stretch>
            <a:fillRect/>
          </a:stretch>
        </p:blipFill>
        <p:spPr>
          <a:xfrm>
            <a:off x="892771" y="4914425"/>
            <a:ext cx="2459100" cy="1158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1000"/>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10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1000"/>
                                        <p:tgtEl>
                                          <p:spTgt spid="5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g11d7b9058fb_2_339"/>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2</a:t>
            </a:r>
            <a:endParaRPr/>
          </a:p>
        </p:txBody>
      </p:sp>
      <p:sp>
        <p:nvSpPr>
          <p:cNvPr id="585" name="Google Shape;585;g11d7b9058fb_2_339"/>
          <p:cNvSpPr txBox="1"/>
          <p:nvPr>
            <p:ph idx="1" type="body"/>
          </p:nvPr>
        </p:nvSpPr>
        <p:spPr>
          <a:xfrm>
            <a:off x="417525" y="1845725"/>
            <a:ext cx="10869900" cy="45705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400"/>
              <a:t>All together now…</a:t>
            </a:r>
            <a:endParaRPr sz="3400"/>
          </a:p>
        </p:txBody>
      </p:sp>
      <p:pic>
        <p:nvPicPr>
          <p:cNvPr id="586" name="Google Shape;586;g11d7b9058fb_2_339"/>
          <p:cNvPicPr preferRelativeResize="0"/>
          <p:nvPr/>
        </p:nvPicPr>
        <p:blipFill>
          <a:blip r:embed="rId3">
            <a:alphaModFix/>
          </a:blip>
          <a:stretch>
            <a:fillRect/>
          </a:stretch>
        </p:blipFill>
        <p:spPr>
          <a:xfrm>
            <a:off x="519302" y="2490024"/>
            <a:ext cx="2278176" cy="732100"/>
          </a:xfrm>
          <a:prstGeom prst="rect">
            <a:avLst/>
          </a:prstGeom>
          <a:noFill/>
          <a:ln>
            <a:noFill/>
          </a:ln>
        </p:spPr>
      </p:pic>
      <p:pic>
        <p:nvPicPr>
          <p:cNvPr id="587" name="Google Shape;587;g11d7b9058fb_2_339"/>
          <p:cNvPicPr preferRelativeResize="0"/>
          <p:nvPr/>
        </p:nvPicPr>
        <p:blipFill>
          <a:blip r:embed="rId4">
            <a:alphaModFix/>
          </a:blip>
          <a:stretch>
            <a:fillRect/>
          </a:stretch>
        </p:blipFill>
        <p:spPr>
          <a:xfrm>
            <a:off x="6506728" y="2633675"/>
            <a:ext cx="2054189" cy="732100"/>
          </a:xfrm>
          <a:prstGeom prst="rect">
            <a:avLst/>
          </a:prstGeom>
          <a:noFill/>
          <a:ln>
            <a:noFill/>
          </a:ln>
        </p:spPr>
      </p:pic>
      <p:pic>
        <p:nvPicPr>
          <p:cNvPr id="588" name="Google Shape;588;g11d7b9058fb_2_339"/>
          <p:cNvPicPr preferRelativeResize="0"/>
          <p:nvPr/>
        </p:nvPicPr>
        <p:blipFill>
          <a:blip r:embed="rId5">
            <a:alphaModFix/>
          </a:blip>
          <a:stretch>
            <a:fillRect/>
          </a:stretch>
        </p:blipFill>
        <p:spPr>
          <a:xfrm>
            <a:off x="3829071" y="2777321"/>
            <a:ext cx="1459700" cy="444800"/>
          </a:xfrm>
          <a:prstGeom prst="rect">
            <a:avLst/>
          </a:prstGeom>
          <a:noFill/>
          <a:ln>
            <a:noFill/>
          </a:ln>
        </p:spPr>
      </p:pic>
      <p:pic>
        <p:nvPicPr>
          <p:cNvPr id="589" name="Google Shape;589;g11d7b9058fb_2_339"/>
          <p:cNvPicPr preferRelativeResize="0"/>
          <p:nvPr/>
        </p:nvPicPr>
        <p:blipFill>
          <a:blip r:embed="rId6">
            <a:alphaModFix/>
          </a:blip>
          <a:stretch>
            <a:fillRect/>
          </a:stretch>
        </p:blipFill>
        <p:spPr>
          <a:xfrm>
            <a:off x="9601049" y="2633675"/>
            <a:ext cx="1554636" cy="732100"/>
          </a:xfrm>
          <a:prstGeom prst="rect">
            <a:avLst/>
          </a:prstGeom>
          <a:noFill/>
          <a:ln>
            <a:noFill/>
          </a:ln>
        </p:spPr>
      </p:pic>
      <p:pic>
        <p:nvPicPr>
          <p:cNvPr id="590" name="Google Shape;590;g11d7b9058fb_2_339"/>
          <p:cNvPicPr preferRelativeResize="0"/>
          <p:nvPr/>
        </p:nvPicPr>
        <p:blipFill>
          <a:blip r:embed="rId7">
            <a:alphaModFix/>
          </a:blip>
          <a:stretch>
            <a:fillRect/>
          </a:stretch>
        </p:blipFill>
        <p:spPr>
          <a:xfrm>
            <a:off x="4825370" y="1877537"/>
            <a:ext cx="2054200" cy="759654"/>
          </a:xfrm>
          <a:prstGeom prst="rect">
            <a:avLst/>
          </a:prstGeom>
          <a:noFill/>
          <a:ln>
            <a:noFill/>
          </a:ln>
        </p:spPr>
      </p:pic>
      <p:pic>
        <p:nvPicPr>
          <p:cNvPr id="591" name="Google Shape;591;g11d7b9058fb_2_339"/>
          <p:cNvPicPr preferRelativeResize="0"/>
          <p:nvPr/>
        </p:nvPicPr>
        <p:blipFill rotWithShape="1">
          <a:blip r:embed="rId8">
            <a:alphaModFix/>
          </a:blip>
          <a:srcRect b="64142" l="0" r="0" t="0"/>
          <a:stretch/>
        </p:blipFill>
        <p:spPr>
          <a:xfrm>
            <a:off x="1097275" y="5329325"/>
            <a:ext cx="9606748" cy="1000449"/>
          </a:xfrm>
          <a:prstGeom prst="rect">
            <a:avLst/>
          </a:prstGeom>
          <a:noFill/>
          <a:ln>
            <a:noFill/>
          </a:ln>
        </p:spPr>
      </p:pic>
      <p:pic>
        <p:nvPicPr>
          <p:cNvPr id="592" name="Google Shape;592;g11d7b9058fb_2_339"/>
          <p:cNvPicPr preferRelativeResize="0"/>
          <p:nvPr/>
        </p:nvPicPr>
        <p:blipFill>
          <a:blip r:embed="rId9">
            <a:alphaModFix/>
          </a:blip>
          <a:stretch>
            <a:fillRect/>
          </a:stretch>
        </p:blipFill>
        <p:spPr>
          <a:xfrm>
            <a:off x="1939687" y="3760721"/>
            <a:ext cx="8373589" cy="1173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1000"/>
                                        <p:tgtEl>
                                          <p:spTgt spid="5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11d7b9058fb_2_5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3</a:t>
            </a:r>
            <a:endParaRPr/>
          </a:p>
        </p:txBody>
      </p:sp>
      <p:sp>
        <p:nvSpPr>
          <p:cNvPr id="599" name="Google Shape;599;g11d7b9058fb_2_54"/>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3200"/>
              <a:t>Calculate the average power of y(t).</a:t>
            </a:r>
            <a:endParaRPr sz="3200"/>
          </a:p>
          <a:p>
            <a:pPr indent="0" lvl="0" marL="0" rtl="0" algn="l">
              <a:spcBef>
                <a:spcPts val="1200"/>
              </a:spcBef>
              <a:spcAft>
                <a:spcPts val="0"/>
              </a:spcAft>
              <a:buNone/>
            </a:pPr>
            <a:r>
              <a:t/>
            </a:r>
            <a:endParaRPr sz="3200"/>
          </a:p>
          <a:p>
            <a:pPr indent="0" lvl="0" marL="0" rtl="0" algn="l">
              <a:spcBef>
                <a:spcPts val="1200"/>
              </a:spcBef>
              <a:spcAft>
                <a:spcPts val="200"/>
              </a:spcAft>
              <a:buNone/>
            </a:pPr>
            <a:r>
              <a:rPr lang="en-US" sz="3200"/>
              <a:t>(Write down y(t), then I’ll give you the tables on the next slide)</a:t>
            </a:r>
            <a:endParaRPr sz="3200"/>
          </a:p>
        </p:txBody>
      </p:sp>
      <p:pic>
        <p:nvPicPr>
          <p:cNvPr id="600" name="Google Shape;600;g11d7b9058fb_2_54"/>
          <p:cNvPicPr preferRelativeResize="0"/>
          <p:nvPr/>
        </p:nvPicPr>
        <p:blipFill>
          <a:blip r:embed="rId3">
            <a:alphaModFix/>
          </a:blip>
          <a:stretch>
            <a:fillRect/>
          </a:stretch>
        </p:blipFill>
        <p:spPr>
          <a:xfrm>
            <a:off x="2665175" y="4752049"/>
            <a:ext cx="6861649" cy="9617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id="606" name="Google Shape;606;g11d7b9058fb_2_369"/>
          <p:cNvPicPr preferRelativeResize="0"/>
          <p:nvPr/>
        </p:nvPicPr>
        <p:blipFill>
          <a:blip r:embed="rId3">
            <a:alphaModFix/>
          </a:blip>
          <a:stretch>
            <a:fillRect/>
          </a:stretch>
        </p:blipFill>
        <p:spPr>
          <a:xfrm>
            <a:off x="2446026" y="3077700"/>
            <a:ext cx="7299961" cy="2916500"/>
          </a:xfrm>
          <a:prstGeom prst="rect">
            <a:avLst/>
          </a:prstGeom>
          <a:noFill/>
          <a:ln>
            <a:noFill/>
          </a:ln>
        </p:spPr>
      </p:pic>
      <p:pic>
        <p:nvPicPr>
          <p:cNvPr id="607" name="Google Shape;607;g11d7b9058fb_2_369"/>
          <p:cNvPicPr preferRelativeResize="0"/>
          <p:nvPr/>
        </p:nvPicPr>
        <p:blipFill>
          <a:blip r:embed="rId4">
            <a:alphaModFix/>
          </a:blip>
          <a:stretch>
            <a:fillRect/>
          </a:stretch>
        </p:blipFill>
        <p:spPr>
          <a:xfrm>
            <a:off x="1716637" y="161201"/>
            <a:ext cx="8758727" cy="291650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11d7b9058fb_2_358"/>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3</a:t>
            </a:r>
            <a:endParaRPr/>
          </a:p>
        </p:txBody>
      </p:sp>
      <p:sp>
        <p:nvSpPr>
          <p:cNvPr id="614" name="Google Shape;614;g11d7b9058fb_2_358"/>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200"/>
              <a:t>Average power: In the tables!</a:t>
            </a:r>
            <a:endParaRPr sz="3200"/>
          </a:p>
        </p:txBody>
      </p:sp>
      <p:pic>
        <p:nvPicPr>
          <p:cNvPr id="615" name="Google Shape;615;g11d7b9058fb_2_358"/>
          <p:cNvPicPr preferRelativeResize="0"/>
          <p:nvPr/>
        </p:nvPicPr>
        <p:blipFill>
          <a:blip r:embed="rId3">
            <a:alphaModFix/>
          </a:blip>
          <a:stretch>
            <a:fillRect/>
          </a:stretch>
        </p:blipFill>
        <p:spPr>
          <a:xfrm>
            <a:off x="2695650" y="-1"/>
            <a:ext cx="6861649" cy="961750"/>
          </a:xfrm>
          <a:prstGeom prst="rect">
            <a:avLst/>
          </a:prstGeom>
          <a:noFill/>
          <a:ln>
            <a:noFill/>
          </a:ln>
        </p:spPr>
      </p:pic>
      <p:pic>
        <p:nvPicPr>
          <p:cNvPr id="616" name="Google Shape;616;g11d7b9058fb_2_358"/>
          <p:cNvPicPr preferRelativeResize="0"/>
          <p:nvPr/>
        </p:nvPicPr>
        <p:blipFill>
          <a:blip r:embed="rId4">
            <a:alphaModFix/>
          </a:blip>
          <a:stretch>
            <a:fillRect/>
          </a:stretch>
        </p:blipFill>
        <p:spPr>
          <a:xfrm>
            <a:off x="152400" y="2583734"/>
            <a:ext cx="11887200" cy="552893"/>
          </a:xfrm>
          <a:prstGeom prst="rect">
            <a:avLst/>
          </a:prstGeom>
          <a:noFill/>
          <a:ln>
            <a:noFill/>
          </a:ln>
        </p:spPr>
      </p:pic>
      <p:pic>
        <p:nvPicPr>
          <p:cNvPr id="617" name="Google Shape;617;g11d7b9058fb_2_358"/>
          <p:cNvPicPr preferRelativeResize="0"/>
          <p:nvPr/>
        </p:nvPicPr>
        <p:blipFill>
          <a:blip r:embed="rId5">
            <a:alphaModFix/>
          </a:blip>
          <a:stretch>
            <a:fillRect/>
          </a:stretch>
        </p:blipFill>
        <p:spPr>
          <a:xfrm>
            <a:off x="1946525" y="3136623"/>
            <a:ext cx="8746776" cy="1352350"/>
          </a:xfrm>
          <a:prstGeom prst="rect">
            <a:avLst/>
          </a:prstGeom>
          <a:noFill/>
          <a:ln>
            <a:noFill/>
          </a:ln>
        </p:spPr>
      </p:pic>
      <p:pic>
        <p:nvPicPr>
          <p:cNvPr id="618" name="Google Shape;618;g11d7b9058fb_2_358"/>
          <p:cNvPicPr preferRelativeResize="0"/>
          <p:nvPr/>
        </p:nvPicPr>
        <p:blipFill>
          <a:blip r:embed="rId6">
            <a:alphaModFix/>
          </a:blip>
          <a:stretch>
            <a:fillRect/>
          </a:stretch>
        </p:blipFill>
        <p:spPr>
          <a:xfrm>
            <a:off x="2695638" y="4659138"/>
            <a:ext cx="7248525" cy="162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1000"/>
                                        <p:tgtEl>
                                          <p:spTgt spid="6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11e84d7adc0_1_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4</a:t>
            </a:r>
            <a:endParaRPr/>
          </a:p>
        </p:txBody>
      </p:sp>
      <p:sp>
        <p:nvSpPr>
          <p:cNvPr id="625" name="Google Shape;625;g11e84d7adc0_1_0"/>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rtl="0" algn="l">
              <a:spcBef>
                <a:spcPts val="1200"/>
              </a:spcBef>
              <a:spcAft>
                <a:spcPts val="0"/>
              </a:spcAft>
              <a:buNone/>
            </a:pPr>
            <a:r>
              <a:rPr lang="en-US" sz="3200"/>
              <a:t>Find the </a:t>
            </a:r>
            <a:r>
              <a:rPr lang="en-US" sz="3200"/>
              <a:t>trigonometric </a:t>
            </a:r>
            <a:r>
              <a:rPr lang="en-US" sz="3200"/>
              <a:t>and compact forms of</a:t>
            </a:r>
            <a:r>
              <a:rPr lang="en-US" sz="3200"/>
              <a:t> y(t).</a:t>
            </a:r>
            <a:endParaRPr sz="3200"/>
          </a:p>
          <a:p>
            <a:pPr indent="0" lvl="0" marL="0" rtl="0" algn="l">
              <a:spcBef>
                <a:spcPts val="1200"/>
              </a:spcBef>
              <a:spcAft>
                <a:spcPts val="0"/>
              </a:spcAft>
              <a:buNone/>
            </a:pPr>
            <a:r>
              <a:t/>
            </a:r>
            <a:endParaRPr sz="3200"/>
          </a:p>
          <a:p>
            <a:pPr indent="0" lvl="0" marL="0" rtl="0" algn="l">
              <a:spcBef>
                <a:spcPts val="1200"/>
              </a:spcBef>
              <a:spcAft>
                <a:spcPts val="200"/>
              </a:spcAft>
              <a:buNone/>
            </a:pPr>
            <a:r>
              <a:rPr lang="en-US" sz="3200"/>
              <a:t>(Write down y(t), then I’ll give you the tables on the next slide)</a:t>
            </a:r>
            <a:endParaRPr sz="3200"/>
          </a:p>
        </p:txBody>
      </p:sp>
      <p:pic>
        <p:nvPicPr>
          <p:cNvPr id="626" name="Google Shape;626;g11e84d7adc0_1_0"/>
          <p:cNvPicPr preferRelativeResize="0"/>
          <p:nvPr/>
        </p:nvPicPr>
        <p:blipFill>
          <a:blip r:embed="rId3">
            <a:alphaModFix/>
          </a:blip>
          <a:stretch>
            <a:fillRect/>
          </a:stretch>
        </p:blipFill>
        <p:spPr>
          <a:xfrm>
            <a:off x="2665175" y="4752049"/>
            <a:ext cx="6861649" cy="9617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g11e84d7adc0_1_7"/>
          <p:cNvPicPr preferRelativeResize="0"/>
          <p:nvPr/>
        </p:nvPicPr>
        <p:blipFill>
          <a:blip r:embed="rId3">
            <a:alphaModFix/>
          </a:blip>
          <a:stretch>
            <a:fillRect/>
          </a:stretch>
        </p:blipFill>
        <p:spPr>
          <a:xfrm>
            <a:off x="2446026" y="3077700"/>
            <a:ext cx="7299961" cy="2916500"/>
          </a:xfrm>
          <a:prstGeom prst="rect">
            <a:avLst/>
          </a:prstGeom>
          <a:noFill/>
          <a:ln>
            <a:noFill/>
          </a:ln>
        </p:spPr>
      </p:pic>
      <p:pic>
        <p:nvPicPr>
          <p:cNvPr id="633" name="Google Shape;633;g11e84d7adc0_1_7"/>
          <p:cNvPicPr preferRelativeResize="0"/>
          <p:nvPr/>
        </p:nvPicPr>
        <p:blipFill>
          <a:blip r:embed="rId4">
            <a:alphaModFix/>
          </a:blip>
          <a:stretch>
            <a:fillRect/>
          </a:stretch>
        </p:blipFill>
        <p:spPr>
          <a:xfrm>
            <a:off x="1716637" y="161201"/>
            <a:ext cx="8758727" cy="291650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g11e84d7adc0_1_1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4</a:t>
            </a:r>
            <a:endParaRPr/>
          </a:p>
        </p:txBody>
      </p:sp>
      <p:sp>
        <p:nvSpPr>
          <p:cNvPr id="640" name="Google Shape;640;g11e84d7adc0_1_17"/>
          <p:cNvSpPr txBox="1"/>
          <p:nvPr>
            <p:ph idx="1" type="body"/>
          </p:nvPr>
        </p:nvSpPr>
        <p:spPr>
          <a:xfrm>
            <a:off x="1097275" y="1845732"/>
            <a:ext cx="10058400" cy="8127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200"/>
              <a:t>Trigonometric </a:t>
            </a:r>
            <a:r>
              <a:rPr lang="en-US" sz="3200"/>
              <a:t>form… What was the formula again?</a:t>
            </a:r>
            <a:endParaRPr sz="3200"/>
          </a:p>
        </p:txBody>
      </p:sp>
      <p:pic>
        <p:nvPicPr>
          <p:cNvPr id="641" name="Google Shape;641;g11e84d7adc0_1_17"/>
          <p:cNvPicPr preferRelativeResize="0"/>
          <p:nvPr/>
        </p:nvPicPr>
        <p:blipFill>
          <a:blip r:embed="rId3">
            <a:alphaModFix/>
          </a:blip>
          <a:stretch>
            <a:fillRect/>
          </a:stretch>
        </p:blipFill>
        <p:spPr>
          <a:xfrm>
            <a:off x="2695650" y="-1"/>
            <a:ext cx="6861649" cy="961750"/>
          </a:xfrm>
          <a:prstGeom prst="rect">
            <a:avLst/>
          </a:prstGeom>
          <a:noFill/>
          <a:ln>
            <a:noFill/>
          </a:ln>
        </p:spPr>
      </p:pic>
      <p:pic>
        <p:nvPicPr>
          <p:cNvPr id="642" name="Google Shape;642;g11e84d7adc0_1_17"/>
          <p:cNvPicPr preferRelativeResize="0"/>
          <p:nvPr/>
        </p:nvPicPr>
        <p:blipFill>
          <a:blip r:embed="rId4">
            <a:alphaModFix/>
          </a:blip>
          <a:stretch>
            <a:fillRect/>
          </a:stretch>
        </p:blipFill>
        <p:spPr>
          <a:xfrm>
            <a:off x="333375" y="3089207"/>
            <a:ext cx="11525250" cy="1047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1000"/>
                                        <p:tgtEl>
                                          <p:spTgt spid="6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11e84d7adc0_1_2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4</a:t>
            </a:r>
            <a:endParaRPr/>
          </a:p>
        </p:txBody>
      </p:sp>
      <p:sp>
        <p:nvSpPr>
          <p:cNvPr id="649" name="Google Shape;649;g11e84d7adc0_1_25"/>
          <p:cNvSpPr txBox="1"/>
          <p:nvPr>
            <p:ph idx="1" type="body"/>
          </p:nvPr>
        </p:nvSpPr>
        <p:spPr>
          <a:xfrm>
            <a:off x="1097275" y="1845732"/>
            <a:ext cx="10058400" cy="8127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200"/>
              <a:t>Ok. Let’s go!</a:t>
            </a:r>
            <a:endParaRPr sz="3200"/>
          </a:p>
        </p:txBody>
      </p:sp>
      <p:pic>
        <p:nvPicPr>
          <p:cNvPr id="650" name="Google Shape;650;g11e84d7adc0_1_25"/>
          <p:cNvPicPr preferRelativeResize="0"/>
          <p:nvPr/>
        </p:nvPicPr>
        <p:blipFill>
          <a:blip r:embed="rId3">
            <a:alphaModFix/>
          </a:blip>
          <a:stretch>
            <a:fillRect/>
          </a:stretch>
        </p:blipFill>
        <p:spPr>
          <a:xfrm>
            <a:off x="2665175" y="97424"/>
            <a:ext cx="6861649" cy="961750"/>
          </a:xfrm>
          <a:prstGeom prst="rect">
            <a:avLst/>
          </a:prstGeom>
          <a:noFill/>
          <a:ln>
            <a:noFill/>
          </a:ln>
        </p:spPr>
      </p:pic>
      <p:pic>
        <p:nvPicPr>
          <p:cNvPr id="651" name="Google Shape;651;g11e84d7adc0_1_25"/>
          <p:cNvPicPr preferRelativeResize="0"/>
          <p:nvPr/>
        </p:nvPicPr>
        <p:blipFill>
          <a:blip r:embed="rId4">
            <a:alphaModFix/>
          </a:blip>
          <a:stretch>
            <a:fillRect/>
          </a:stretch>
        </p:blipFill>
        <p:spPr>
          <a:xfrm>
            <a:off x="333375" y="2458882"/>
            <a:ext cx="11525250" cy="1047750"/>
          </a:xfrm>
          <a:prstGeom prst="rect">
            <a:avLst/>
          </a:prstGeom>
          <a:noFill/>
          <a:ln>
            <a:noFill/>
          </a:ln>
        </p:spPr>
      </p:pic>
      <p:pic>
        <p:nvPicPr>
          <p:cNvPr id="652" name="Google Shape;652;g11e84d7adc0_1_25"/>
          <p:cNvPicPr preferRelativeResize="0"/>
          <p:nvPr/>
        </p:nvPicPr>
        <p:blipFill>
          <a:blip r:embed="rId5">
            <a:alphaModFix/>
          </a:blip>
          <a:stretch>
            <a:fillRect/>
          </a:stretch>
        </p:blipFill>
        <p:spPr>
          <a:xfrm>
            <a:off x="152400" y="3659028"/>
            <a:ext cx="3020850" cy="397800"/>
          </a:xfrm>
          <a:prstGeom prst="rect">
            <a:avLst/>
          </a:prstGeom>
          <a:noFill/>
          <a:ln>
            <a:noFill/>
          </a:ln>
        </p:spPr>
      </p:pic>
      <p:pic>
        <p:nvPicPr>
          <p:cNvPr id="653" name="Google Shape;653;g11e84d7adc0_1_25"/>
          <p:cNvPicPr preferRelativeResize="0"/>
          <p:nvPr/>
        </p:nvPicPr>
        <p:blipFill>
          <a:blip r:embed="rId6">
            <a:alphaModFix/>
          </a:blip>
          <a:stretch>
            <a:fillRect/>
          </a:stretch>
        </p:blipFill>
        <p:spPr>
          <a:xfrm>
            <a:off x="9919270" y="874500"/>
            <a:ext cx="2054200" cy="759654"/>
          </a:xfrm>
          <a:prstGeom prst="rect">
            <a:avLst/>
          </a:prstGeom>
          <a:noFill/>
          <a:ln>
            <a:noFill/>
          </a:ln>
        </p:spPr>
      </p:pic>
      <p:pic>
        <p:nvPicPr>
          <p:cNvPr id="654" name="Google Shape;654;g11e84d7adc0_1_25"/>
          <p:cNvPicPr preferRelativeResize="0"/>
          <p:nvPr/>
        </p:nvPicPr>
        <p:blipFill>
          <a:blip r:embed="rId7">
            <a:alphaModFix/>
          </a:blip>
          <a:stretch>
            <a:fillRect/>
          </a:stretch>
        </p:blipFill>
        <p:spPr>
          <a:xfrm>
            <a:off x="152400" y="4255276"/>
            <a:ext cx="4204943" cy="682100"/>
          </a:xfrm>
          <a:prstGeom prst="rect">
            <a:avLst/>
          </a:prstGeom>
          <a:noFill/>
          <a:ln>
            <a:noFill/>
          </a:ln>
        </p:spPr>
      </p:pic>
      <p:pic>
        <p:nvPicPr>
          <p:cNvPr id="655" name="Google Shape;655;g11e84d7adc0_1_25"/>
          <p:cNvPicPr preferRelativeResize="0"/>
          <p:nvPr/>
        </p:nvPicPr>
        <p:blipFill>
          <a:blip r:embed="rId8">
            <a:alphaModFix/>
          </a:blip>
          <a:stretch>
            <a:fillRect/>
          </a:stretch>
        </p:blipFill>
        <p:spPr>
          <a:xfrm>
            <a:off x="152400" y="5224425"/>
            <a:ext cx="4915074" cy="682100"/>
          </a:xfrm>
          <a:prstGeom prst="rect">
            <a:avLst/>
          </a:prstGeom>
          <a:noFill/>
          <a:ln>
            <a:noFill/>
          </a:ln>
        </p:spPr>
      </p:pic>
      <p:pic>
        <p:nvPicPr>
          <p:cNvPr id="656" name="Google Shape;656;g11e84d7adc0_1_25"/>
          <p:cNvPicPr preferRelativeResize="0"/>
          <p:nvPr/>
        </p:nvPicPr>
        <p:blipFill>
          <a:blip r:embed="rId9">
            <a:alphaModFix/>
          </a:blip>
          <a:stretch>
            <a:fillRect/>
          </a:stretch>
        </p:blipFill>
        <p:spPr>
          <a:xfrm>
            <a:off x="5979801" y="5295957"/>
            <a:ext cx="5704224" cy="682100"/>
          </a:xfrm>
          <a:prstGeom prst="rect">
            <a:avLst/>
          </a:prstGeom>
          <a:noFill/>
          <a:ln>
            <a:noFill/>
          </a:ln>
        </p:spPr>
      </p:pic>
      <p:pic>
        <p:nvPicPr>
          <p:cNvPr id="657" name="Google Shape;657;g11e84d7adc0_1_25"/>
          <p:cNvPicPr preferRelativeResize="0"/>
          <p:nvPr/>
        </p:nvPicPr>
        <p:blipFill>
          <a:blip r:embed="rId10">
            <a:alphaModFix/>
          </a:blip>
          <a:stretch>
            <a:fillRect/>
          </a:stretch>
        </p:blipFill>
        <p:spPr>
          <a:xfrm>
            <a:off x="5896274" y="4228100"/>
            <a:ext cx="6077201" cy="759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1000"/>
                                        <p:tgtEl>
                                          <p:spTgt spid="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1000"/>
                                        <p:tgtEl>
                                          <p:spTgt spid="6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1000"/>
                                        <p:tgtEl>
                                          <p:spTgt spid="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11e84d7adc0_1_56"/>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4</a:t>
            </a:r>
            <a:endParaRPr/>
          </a:p>
        </p:txBody>
      </p:sp>
      <p:sp>
        <p:nvSpPr>
          <p:cNvPr id="664" name="Google Shape;664;g11e84d7adc0_1_56"/>
          <p:cNvSpPr txBox="1"/>
          <p:nvPr>
            <p:ph idx="1" type="body"/>
          </p:nvPr>
        </p:nvSpPr>
        <p:spPr>
          <a:xfrm>
            <a:off x="1097275" y="1845732"/>
            <a:ext cx="10058400" cy="8127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200"/>
              <a:t>Altogether now…</a:t>
            </a:r>
            <a:endParaRPr sz="3200"/>
          </a:p>
        </p:txBody>
      </p:sp>
      <p:pic>
        <p:nvPicPr>
          <p:cNvPr id="665" name="Google Shape;665;g11e84d7adc0_1_56"/>
          <p:cNvPicPr preferRelativeResize="0"/>
          <p:nvPr/>
        </p:nvPicPr>
        <p:blipFill>
          <a:blip r:embed="rId3">
            <a:alphaModFix/>
          </a:blip>
          <a:stretch>
            <a:fillRect/>
          </a:stretch>
        </p:blipFill>
        <p:spPr>
          <a:xfrm>
            <a:off x="2665175" y="97424"/>
            <a:ext cx="6861649" cy="961750"/>
          </a:xfrm>
          <a:prstGeom prst="rect">
            <a:avLst/>
          </a:prstGeom>
          <a:noFill/>
          <a:ln>
            <a:noFill/>
          </a:ln>
        </p:spPr>
      </p:pic>
      <p:pic>
        <p:nvPicPr>
          <p:cNvPr id="666" name="Google Shape;666;g11e84d7adc0_1_56"/>
          <p:cNvPicPr preferRelativeResize="0"/>
          <p:nvPr/>
        </p:nvPicPr>
        <p:blipFill>
          <a:blip r:embed="rId4">
            <a:alphaModFix/>
          </a:blip>
          <a:stretch>
            <a:fillRect/>
          </a:stretch>
        </p:blipFill>
        <p:spPr>
          <a:xfrm>
            <a:off x="333375" y="2458882"/>
            <a:ext cx="11525250" cy="1047750"/>
          </a:xfrm>
          <a:prstGeom prst="rect">
            <a:avLst/>
          </a:prstGeom>
          <a:noFill/>
          <a:ln>
            <a:noFill/>
          </a:ln>
        </p:spPr>
      </p:pic>
      <p:pic>
        <p:nvPicPr>
          <p:cNvPr id="667" name="Google Shape;667;g11e84d7adc0_1_56"/>
          <p:cNvPicPr preferRelativeResize="0"/>
          <p:nvPr/>
        </p:nvPicPr>
        <p:blipFill>
          <a:blip r:embed="rId5">
            <a:alphaModFix/>
          </a:blip>
          <a:stretch>
            <a:fillRect/>
          </a:stretch>
        </p:blipFill>
        <p:spPr>
          <a:xfrm>
            <a:off x="152400" y="4363532"/>
            <a:ext cx="11887201" cy="1276027"/>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11d7b9058fb_2_387"/>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4</a:t>
            </a:r>
            <a:endParaRPr/>
          </a:p>
        </p:txBody>
      </p:sp>
      <p:sp>
        <p:nvSpPr>
          <p:cNvPr id="674" name="Google Shape;674;g11d7b9058fb_2_387"/>
          <p:cNvSpPr txBox="1"/>
          <p:nvPr>
            <p:ph idx="1" type="body"/>
          </p:nvPr>
        </p:nvSpPr>
        <p:spPr>
          <a:xfrm>
            <a:off x="1097275" y="1845732"/>
            <a:ext cx="10058400" cy="8127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200"/>
              <a:t>Compact form</a:t>
            </a:r>
            <a:r>
              <a:rPr lang="en-US" sz="3200"/>
              <a:t>… What was the formula again?</a:t>
            </a:r>
            <a:endParaRPr sz="3200"/>
          </a:p>
        </p:txBody>
      </p:sp>
      <p:pic>
        <p:nvPicPr>
          <p:cNvPr id="675" name="Google Shape;675;g11d7b9058fb_2_387"/>
          <p:cNvPicPr preferRelativeResize="0"/>
          <p:nvPr/>
        </p:nvPicPr>
        <p:blipFill>
          <a:blip r:embed="rId3">
            <a:alphaModFix/>
          </a:blip>
          <a:stretch>
            <a:fillRect/>
          </a:stretch>
        </p:blipFill>
        <p:spPr>
          <a:xfrm>
            <a:off x="2695650" y="-1"/>
            <a:ext cx="6861649" cy="961750"/>
          </a:xfrm>
          <a:prstGeom prst="rect">
            <a:avLst/>
          </a:prstGeom>
          <a:noFill/>
          <a:ln>
            <a:noFill/>
          </a:ln>
        </p:spPr>
      </p:pic>
      <p:pic>
        <p:nvPicPr>
          <p:cNvPr id="676" name="Google Shape;676;g11d7b9058fb_2_387"/>
          <p:cNvPicPr preferRelativeResize="0"/>
          <p:nvPr/>
        </p:nvPicPr>
        <p:blipFill>
          <a:blip r:embed="rId4">
            <a:alphaModFix/>
          </a:blip>
          <a:stretch>
            <a:fillRect/>
          </a:stretch>
        </p:blipFill>
        <p:spPr>
          <a:xfrm>
            <a:off x="342900" y="3290082"/>
            <a:ext cx="11506200" cy="1009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1000"/>
                                        <p:tgtEl>
                                          <p:spTgt spid="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11d7b9058fb_2_40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4</a:t>
            </a:r>
            <a:endParaRPr/>
          </a:p>
        </p:txBody>
      </p:sp>
      <p:sp>
        <p:nvSpPr>
          <p:cNvPr id="683" name="Google Shape;683;g11d7b9058fb_2_400"/>
          <p:cNvSpPr txBox="1"/>
          <p:nvPr>
            <p:ph idx="1" type="body"/>
          </p:nvPr>
        </p:nvSpPr>
        <p:spPr>
          <a:xfrm>
            <a:off x="1097275" y="1845732"/>
            <a:ext cx="10058400" cy="8127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200"/>
              <a:t>Ok. Let’s go!</a:t>
            </a:r>
            <a:endParaRPr sz="3200"/>
          </a:p>
        </p:txBody>
      </p:sp>
      <p:pic>
        <p:nvPicPr>
          <p:cNvPr id="684" name="Google Shape;684;g11d7b9058fb_2_400"/>
          <p:cNvPicPr preferRelativeResize="0"/>
          <p:nvPr/>
        </p:nvPicPr>
        <p:blipFill>
          <a:blip r:embed="rId3">
            <a:alphaModFix/>
          </a:blip>
          <a:stretch>
            <a:fillRect/>
          </a:stretch>
        </p:blipFill>
        <p:spPr>
          <a:xfrm>
            <a:off x="2665175" y="97424"/>
            <a:ext cx="6861649" cy="961750"/>
          </a:xfrm>
          <a:prstGeom prst="rect">
            <a:avLst/>
          </a:prstGeom>
          <a:noFill/>
          <a:ln>
            <a:noFill/>
          </a:ln>
        </p:spPr>
      </p:pic>
      <p:pic>
        <p:nvPicPr>
          <p:cNvPr id="685" name="Google Shape;685;g11d7b9058fb_2_400"/>
          <p:cNvPicPr preferRelativeResize="0"/>
          <p:nvPr/>
        </p:nvPicPr>
        <p:blipFill>
          <a:blip r:embed="rId4">
            <a:alphaModFix/>
          </a:blip>
          <a:stretch>
            <a:fillRect/>
          </a:stretch>
        </p:blipFill>
        <p:spPr>
          <a:xfrm>
            <a:off x="8007722" y="3684126"/>
            <a:ext cx="2059275" cy="1235550"/>
          </a:xfrm>
          <a:prstGeom prst="rect">
            <a:avLst/>
          </a:prstGeom>
          <a:noFill/>
          <a:ln>
            <a:noFill/>
          </a:ln>
        </p:spPr>
      </p:pic>
      <p:pic>
        <p:nvPicPr>
          <p:cNvPr id="686" name="Google Shape;686;g11d7b9058fb_2_400"/>
          <p:cNvPicPr preferRelativeResize="0"/>
          <p:nvPr/>
        </p:nvPicPr>
        <p:blipFill>
          <a:blip r:embed="rId5">
            <a:alphaModFix/>
          </a:blip>
          <a:stretch>
            <a:fillRect/>
          </a:stretch>
        </p:blipFill>
        <p:spPr>
          <a:xfrm>
            <a:off x="1097275" y="2766745"/>
            <a:ext cx="2505550" cy="377994"/>
          </a:xfrm>
          <a:prstGeom prst="rect">
            <a:avLst/>
          </a:prstGeom>
          <a:noFill/>
          <a:ln>
            <a:noFill/>
          </a:ln>
        </p:spPr>
      </p:pic>
      <p:pic>
        <p:nvPicPr>
          <p:cNvPr id="687" name="Google Shape;687;g11d7b9058fb_2_400"/>
          <p:cNvPicPr preferRelativeResize="0"/>
          <p:nvPr/>
        </p:nvPicPr>
        <p:blipFill>
          <a:blip r:embed="rId6">
            <a:alphaModFix/>
          </a:blip>
          <a:stretch>
            <a:fillRect/>
          </a:stretch>
        </p:blipFill>
        <p:spPr>
          <a:xfrm>
            <a:off x="1097272" y="3506625"/>
            <a:ext cx="2332303" cy="812700"/>
          </a:xfrm>
          <a:prstGeom prst="rect">
            <a:avLst/>
          </a:prstGeom>
          <a:noFill/>
          <a:ln>
            <a:noFill/>
          </a:ln>
        </p:spPr>
      </p:pic>
      <p:pic>
        <p:nvPicPr>
          <p:cNvPr id="688" name="Google Shape;688;g11d7b9058fb_2_400"/>
          <p:cNvPicPr preferRelativeResize="0"/>
          <p:nvPr/>
        </p:nvPicPr>
        <p:blipFill>
          <a:blip r:embed="rId7">
            <a:alphaModFix/>
          </a:blip>
          <a:stretch>
            <a:fillRect/>
          </a:stretch>
        </p:blipFill>
        <p:spPr>
          <a:xfrm>
            <a:off x="1097275" y="4541675"/>
            <a:ext cx="1235552" cy="378000"/>
          </a:xfrm>
          <a:prstGeom prst="rect">
            <a:avLst/>
          </a:prstGeom>
          <a:noFill/>
          <a:ln>
            <a:noFill/>
          </a:ln>
        </p:spPr>
      </p:pic>
      <p:pic>
        <p:nvPicPr>
          <p:cNvPr id="689" name="Google Shape;689;g11d7b9058fb_2_400"/>
          <p:cNvPicPr preferRelativeResize="0"/>
          <p:nvPr/>
        </p:nvPicPr>
        <p:blipFill>
          <a:blip r:embed="rId8">
            <a:alphaModFix/>
          </a:blip>
          <a:stretch>
            <a:fillRect/>
          </a:stretch>
        </p:blipFill>
        <p:spPr>
          <a:xfrm>
            <a:off x="1097275" y="5142029"/>
            <a:ext cx="2332300" cy="9945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1000"/>
                                        <p:tgtEl>
                                          <p:spTgt spid="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10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1000"/>
                                        <p:tgtEl>
                                          <p:spTgt spid="6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11d7b9058fb_2_41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4</a:t>
            </a:r>
            <a:endParaRPr/>
          </a:p>
        </p:txBody>
      </p:sp>
      <p:sp>
        <p:nvSpPr>
          <p:cNvPr id="696" name="Google Shape;696;g11d7b9058fb_2_415"/>
          <p:cNvSpPr txBox="1"/>
          <p:nvPr>
            <p:ph idx="1" type="body"/>
          </p:nvPr>
        </p:nvSpPr>
        <p:spPr>
          <a:xfrm>
            <a:off x="1097275" y="1845732"/>
            <a:ext cx="10058400" cy="812700"/>
          </a:xfrm>
          <a:prstGeom prst="rect">
            <a:avLst/>
          </a:prstGeom>
        </p:spPr>
        <p:txBody>
          <a:bodyPr anchorCtr="0" anchor="t" bIns="45700" lIns="0" spcFirstLastPara="1" rIns="0" wrap="square" tIns="45700">
            <a:normAutofit/>
          </a:bodyPr>
          <a:lstStyle/>
          <a:p>
            <a:pPr indent="0" lvl="0" marL="0" rtl="0" algn="l">
              <a:spcBef>
                <a:spcPts val="1200"/>
              </a:spcBef>
              <a:spcAft>
                <a:spcPts val="200"/>
              </a:spcAft>
              <a:buNone/>
            </a:pPr>
            <a:r>
              <a:rPr lang="en-US" sz="3200"/>
              <a:t>But wait… What’s the full formula?</a:t>
            </a:r>
            <a:endParaRPr sz="3200"/>
          </a:p>
        </p:txBody>
      </p:sp>
      <p:pic>
        <p:nvPicPr>
          <p:cNvPr id="697" name="Google Shape;697;g11d7b9058fb_2_415"/>
          <p:cNvPicPr preferRelativeResize="0"/>
          <p:nvPr/>
        </p:nvPicPr>
        <p:blipFill>
          <a:blip r:embed="rId3">
            <a:alphaModFix/>
          </a:blip>
          <a:stretch>
            <a:fillRect/>
          </a:stretch>
        </p:blipFill>
        <p:spPr>
          <a:xfrm>
            <a:off x="2665175" y="97424"/>
            <a:ext cx="6861649" cy="961750"/>
          </a:xfrm>
          <a:prstGeom prst="rect">
            <a:avLst/>
          </a:prstGeom>
          <a:noFill/>
          <a:ln>
            <a:noFill/>
          </a:ln>
        </p:spPr>
      </p:pic>
      <p:pic>
        <p:nvPicPr>
          <p:cNvPr id="698" name="Google Shape;698;g11d7b9058fb_2_415"/>
          <p:cNvPicPr preferRelativeResize="0"/>
          <p:nvPr/>
        </p:nvPicPr>
        <p:blipFill>
          <a:blip r:embed="rId4">
            <a:alphaModFix/>
          </a:blip>
          <a:stretch>
            <a:fillRect/>
          </a:stretch>
        </p:blipFill>
        <p:spPr>
          <a:xfrm>
            <a:off x="342900" y="2658432"/>
            <a:ext cx="11506200" cy="1009650"/>
          </a:xfrm>
          <a:prstGeom prst="rect">
            <a:avLst/>
          </a:prstGeom>
          <a:noFill/>
          <a:ln>
            <a:noFill/>
          </a:ln>
        </p:spPr>
      </p:pic>
      <p:sp>
        <p:nvSpPr>
          <p:cNvPr id="699" name="Google Shape;699;g11d7b9058fb_2_415"/>
          <p:cNvSpPr txBox="1"/>
          <p:nvPr>
            <p:ph idx="1" type="body"/>
          </p:nvPr>
        </p:nvSpPr>
        <p:spPr>
          <a:xfrm>
            <a:off x="955425" y="5267332"/>
            <a:ext cx="10058400" cy="812700"/>
          </a:xfrm>
          <a:prstGeom prst="rect">
            <a:avLst/>
          </a:prstGeom>
        </p:spPr>
        <p:txBody>
          <a:bodyPr anchorCtr="0" anchor="t" bIns="45700" lIns="0" spcFirstLastPara="1" rIns="0" wrap="square" tIns="45700">
            <a:noAutofit/>
          </a:bodyPr>
          <a:lstStyle/>
          <a:p>
            <a:pPr indent="0" lvl="0" marL="0" rtl="0" algn="l">
              <a:lnSpc>
                <a:spcPct val="70000"/>
              </a:lnSpc>
              <a:spcBef>
                <a:spcPts val="1200"/>
              </a:spcBef>
              <a:spcAft>
                <a:spcPts val="0"/>
              </a:spcAft>
              <a:buSzPts val="852"/>
              <a:buNone/>
            </a:pPr>
            <a:r>
              <a:rPr lang="en-US" sz="3380"/>
              <a:t>Oh no. y(t) isn’t completely real.</a:t>
            </a:r>
            <a:endParaRPr sz="3380"/>
          </a:p>
          <a:p>
            <a:pPr indent="0" lvl="0" marL="0" rtl="0" algn="l">
              <a:lnSpc>
                <a:spcPct val="70000"/>
              </a:lnSpc>
              <a:spcBef>
                <a:spcPts val="1200"/>
              </a:spcBef>
              <a:spcAft>
                <a:spcPts val="200"/>
              </a:spcAft>
              <a:buSzPts val="852"/>
              <a:buNone/>
            </a:pPr>
            <a:r>
              <a:rPr lang="en-US" sz="3380"/>
              <a:t>COMPACT FORM FOR y(t) DOESN’T EXIST!!!!</a:t>
            </a:r>
            <a:endParaRPr sz="3380"/>
          </a:p>
        </p:txBody>
      </p:sp>
      <p:pic>
        <p:nvPicPr>
          <p:cNvPr id="700" name="Google Shape;700;g11d7b9058fb_2_415"/>
          <p:cNvPicPr preferRelativeResize="0"/>
          <p:nvPr/>
        </p:nvPicPr>
        <p:blipFill>
          <a:blip r:embed="rId5">
            <a:alphaModFix/>
          </a:blip>
          <a:stretch>
            <a:fillRect/>
          </a:stretch>
        </p:blipFill>
        <p:spPr>
          <a:xfrm>
            <a:off x="2567095" y="3891325"/>
            <a:ext cx="6835056" cy="11527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1000"/>
                                        <p:tgtEl>
                                          <p:spTgt spid="6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1000"/>
                                        <p:tgtEl>
                                          <p:spTgt spid="6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11d7b9058fb_2_44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Monster Problem Part 5</a:t>
            </a:r>
            <a:endParaRPr/>
          </a:p>
        </p:txBody>
      </p:sp>
      <p:sp>
        <p:nvSpPr>
          <p:cNvPr id="707" name="Google Shape;707;g11d7b9058fb_2_445"/>
          <p:cNvSpPr txBox="1"/>
          <p:nvPr>
            <p:ph idx="1" type="body"/>
          </p:nvPr>
        </p:nvSpPr>
        <p:spPr>
          <a:xfrm>
            <a:off x="1097275" y="1845704"/>
            <a:ext cx="10058400" cy="4834800"/>
          </a:xfrm>
          <a:prstGeom prst="rect">
            <a:avLst/>
          </a:prstGeom>
        </p:spPr>
        <p:txBody>
          <a:bodyPr anchorCtr="0" anchor="t" bIns="45700" lIns="0" spcFirstLastPara="1" rIns="0" wrap="square" tIns="45700">
            <a:normAutofit/>
          </a:bodyPr>
          <a:lstStyle/>
          <a:p>
            <a:pPr indent="0" lvl="0" marL="0" rtl="0" algn="l">
              <a:lnSpc>
                <a:spcPct val="70000"/>
              </a:lnSpc>
              <a:spcBef>
                <a:spcPts val="1200"/>
              </a:spcBef>
              <a:spcAft>
                <a:spcPts val="0"/>
              </a:spcAft>
              <a:buNone/>
            </a:pPr>
            <a:r>
              <a:rPr lang="en-US" sz="3680"/>
              <a:t>Ha I’m kidding.</a:t>
            </a:r>
            <a:endParaRPr sz="3680"/>
          </a:p>
          <a:p>
            <a:pPr indent="0" lvl="0" marL="0" rtl="0" algn="l">
              <a:lnSpc>
                <a:spcPct val="70000"/>
              </a:lnSpc>
              <a:spcBef>
                <a:spcPts val="1200"/>
              </a:spcBef>
              <a:spcAft>
                <a:spcPts val="0"/>
              </a:spcAft>
              <a:buNone/>
            </a:pPr>
            <a:r>
              <a:rPr lang="en-US" sz="3680"/>
              <a:t>Give yourself a pat on the back. </a:t>
            </a:r>
            <a:endParaRPr sz="3680"/>
          </a:p>
          <a:p>
            <a:pPr indent="0" lvl="0" marL="0" rtl="0" algn="l">
              <a:lnSpc>
                <a:spcPct val="70000"/>
              </a:lnSpc>
              <a:spcBef>
                <a:spcPts val="1200"/>
              </a:spcBef>
              <a:spcAft>
                <a:spcPts val="0"/>
              </a:spcAft>
              <a:buNone/>
            </a:pPr>
            <a:r>
              <a:rPr lang="en-US" sz="3680"/>
              <a:t>That was a hard one.</a:t>
            </a:r>
            <a:endParaRPr sz="3680"/>
          </a:p>
          <a:p>
            <a:pPr indent="0" lvl="0" marL="0" rtl="0" algn="l">
              <a:spcBef>
                <a:spcPts val="1200"/>
              </a:spcBef>
              <a:spcAft>
                <a:spcPts val="200"/>
              </a:spcAft>
              <a:buNone/>
            </a:pPr>
            <a:r>
              <a:t/>
            </a:r>
            <a:endParaRPr sz="3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1000"/>
                                        <p:tgtEl>
                                          <p:spTgt spid="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11d7b9058fb_2_454"/>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Feedback! Please please fill it out!</a:t>
            </a:r>
            <a:endParaRPr/>
          </a:p>
        </p:txBody>
      </p:sp>
      <p:pic>
        <p:nvPicPr>
          <p:cNvPr id="714" name="Google Shape;714;g11d7b9058fb_2_454"/>
          <p:cNvPicPr preferRelativeResize="0"/>
          <p:nvPr/>
        </p:nvPicPr>
        <p:blipFill>
          <a:blip r:embed="rId3">
            <a:alphaModFix/>
          </a:blip>
          <a:stretch>
            <a:fillRect/>
          </a:stretch>
        </p:blipFill>
        <p:spPr>
          <a:xfrm>
            <a:off x="3813462" y="1737400"/>
            <a:ext cx="4565074" cy="456507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15"/>
          <p:cNvSpPr txBox="1"/>
          <p:nvPr>
            <p:ph type="title"/>
          </p:nvPr>
        </p:nvSpPr>
        <p:spPr>
          <a:xfrm>
            <a:off x="1097280" y="286604"/>
            <a:ext cx="10058400" cy="1002052"/>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Spring 2014 Question 1</a:t>
            </a:r>
            <a:endParaRPr/>
          </a:p>
        </p:txBody>
      </p:sp>
      <p:pic>
        <p:nvPicPr>
          <p:cNvPr id="720" name="Google Shape;720;p15"/>
          <p:cNvPicPr preferRelativeResize="0"/>
          <p:nvPr>
            <p:ph idx="1" type="body"/>
          </p:nvPr>
        </p:nvPicPr>
        <p:blipFill rotWithShape="1">
          <a:blip r:embed="rId3">
            <a:alphaModFix/>
          </a:blip>
          <a:srcRect b="0" l="0" r="0" t="0"/>
          <a:stretch/>
        </p:blipFill>
        <p:spPr>
          <a:xfrm>
            <a:off x="212607" y="1288656"/>
            <a:ext cx="8887145" cy="3015500"/>
          </a:xfrm>
          <a:prstGeom prst="rect">
            <a:avLst/>
          </a:prstGeom>
          <a:noFill/>
          <a:ln>
            <a:noFill/>
          </a:ln>
        </p:spPr>
      </p:pic>
      <p:sp>
        <p:nvSpPr>
          <p:cNvPr id="721" name="Google Shape;721;p1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id="722" name="Google Shape;722;p15"/>
          <p:cNvPicPr preferRelativeResize="0"/>
          <p:nvPr/>
        </p:nvPicPr>
        <p:blipFill rotWithShape="1">
          <a:blip r:embed="rId4">
            <a:alphaModFix/>
          </a:blip>
          <a:srcRect b="0" l="0" r="0" t="0"/>
          <a:stretch/>
        </p:blipFill>
        <p:spPr>
          <a:xfrm>
            <a:off x="1465725" y="4005568"/>
            <a:ext cx="7842190" cy="1945718"/>
          </a:xfrm>
          <a:prstGeom prst="rect">
            <a:avLst/>
          </a:prstGeom>
          <a:noFill/>
          <a:ln>
            <a:noFill/>
          </a:ln>
        </p:spPr>
      </p:pic>
      <p:pic>
        <p:nvPicPr>
          <p:cNvPr id="723" name="Google Shape;723;p15"/>
          <p:cNvPicPr preferRelativeResize="0"/>
          <p:nvPr/>
        </p:nvPicPr>
        <p:blipFill rotWithShape="1">
          <a:blip r:embed="rId5">
            <a:alphaModFix/>
          </a:blip>
          <a:srcRect b="0" l="0" r="0" t="0"/>
          <a:stretch/>
        </p:blipFill>
        <p:spPr>
          <a:xfrm>
            <a:off x="-133087" y="5776717"/>
            <a:ext cx="8626664" cy="495785"/>
          </a:xfrm>
          <a:prstGeom prst="rect">
            <a:avLst/>
          </a:prstGeom>
          <a:noFill/>
          <a:ln>
            <a:noFill/>
          </a:ln>
        </p:spPr>
      </p:pic>
      <p:pic>
        <p:nvPicPr>
          <p:cNvPr id="724" name="Google Shape;724;p15"/>
          <p:cNvPicPr preferRelativeResize="0"/>
          <p:nvPr/>
        </p:nvPicPr>
        <p:blipFill rotWithShape="1">
          <a:blip r:embed="rId6">
            <a:alphaModFix/>
          </a:blip>
          <a:srcRect b="0" l="0" r="0" t="0"/>
          <a:stretch/>
        </p:blipFill>
        <p:spPr>
          <a:xfrm>
            <a:off x="5277154" y="5692516"/>
            <a:ext cx="6914846" cy="539863"/>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Spring 2014 Question 2</a:t>
            </a:r>
            <a:endParaRPr/>
          </a:p>
        </p:txBody>
      </p:sp>
      <p:pic>
        <p:nvPicPr>
          <p:cNvPr id="735" name="Google Shape;735;p17"/>
          <p:cNvPicPr preferRelativeResize="0"/>
          <p:nvPr>
            <p:ph idx="1" type="body"/>
          </p:nvPr>
        </p:nvPicPr>
        <p:blipFill rotWithShape="1">
          <a:blip r:embed="rId3">
            <a:alphaModFix/>
          </a:blip>
          <a:srcRect b="0" l="0" r="0" t="0"/>
          <a:stretch/>
        </p:blipFill>
        <p:spPr>
          <a:xfrm>
            <a:off x="1094137" y="2034125"/>
            <a:ext cx="7969511" cy="2811252"/>
          </a:xfrm>
          <a:prstGeom prst="rect">
            <a:avLst/>
          </a:prstGeom>
          <a:noFill/>
          <a:ln>
            <a:noFill/>
          </a:ln>
        </p:spPr>
      </p:pic>
      <p:sp>
        <p:nvSpPr>
          <p:cNvPr id="736" name="Google Shape;736;p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id="737" name="Google Shape;737;p17"/>
          <p:cNvPicPr preferRelativeResize="0"/>
          <p:nvPr/>
        </p:nvPicPr>
        <p:blipFill rotWithShape="1">
          <a:blip r:embed="rId4">
            <a:alphaModFix/>
          </a:blip>
          <a:srcRect b="0" l="0" r="0" t="0"/>
          <a:stretch/>
        </p:blipFill>
        <p:spPr>
          <a:xfrm>
            <a:off x="1221995" y="4736829"/>
            <a:ext cx="3934468" cy="365404"/>
          </a:xfrm>
          <a:prstGeom prst="rect">
            <a:avLst/>
          </a:prstGeom>
          <a:noFill/>
          <a:ln>
            <a:noFill/>
          </a:ln>
        </p:spPr>
      </p:pic>
      <p:pic>
        <p:nvPicPr>
          <p:cNvPr id="738" name="Google Shape;738;p17"/>
          <p:cNvPicPr preferRelativeResize="0"/>
          <p:nvPr/>
        </p:nvPicPr>
        <p:blipFill rotWithShape="1">
          <a:blip r:embed="rId5">
            <a:alphaModFix/>
          </a:blip>
          <a:srcRect b="0" l="0" r="0" t="0"/>
          <a:stretch/>
        </p:blipFill>
        <p:spPr>
          <a:xfrm>
            <a:off x="1221995" y="5131032"/>
            <a:ext cx="4468253" cy="449636"/>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t/>
            </a:r>
            <a:endParaRPr/>
          </a:p>
        </p:txBody>
      </p:sp>
      <p:sp>
        <p:nvSpPr>
          <p:cNvPr id="744" name="Google Shape;744;p1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745" name="Google Shape;745;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2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Spring 2018 Question 4</a:t>
            </a:r>
            <a:endParaRPr/>
          </a:p>
        </p:txBody>
      </p:sp>
      <p:pic>
        <p:nvPicPr>
          <p:cNvPr id="751" name="Google Shape;751;p21"/>
          <p:cNvPicPr preferRelativeResize="0"/>
          <p:nvPr>
            <p:ph idx="1" type="body"/>
          </p:nvPr>
        </p:nvPicPr>
        <p:blipFill rotWithShape="1">
          <a:blip r:embed="rId3">
            <a:alphaModFix/>
          </a:blip>
          <a:srcRect b="0" l="0" r="0" t="0"/>
          <a:stretch/>
        </p:blipFill>
        <p:spPr>
          <a:xfrm>
            <a:off x="1097280" y="1866535"/>
            <a:ext cx="5991330" cy="1490597"/>
          </a:xfrm>
          <a:prstGeom prst="rect">
            <a:avLst/>
          </a:prstGeom>
          <a:noFill/>
          <a:ln>
            <a:noFill/>
          </a:ln>
        </p:spPr>
      </p:pic>
      <p:sp>
        <p:nvSpPr>
          <p:cNvPr id="752" name="Google Shape;752;p2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id="753" name="Google Shape;753;p21"/>
          <p:cNvPicPr preferRelativeResize="0"/>
          <p:nvPr/>
        </p:nvPicPr>
        <p:blipFill rotWithShape="1">
          <a:blip r:embed="rId4">
            <a:alphaModFix/>
          </a:blip>
          <a:srcRect b="0" l="0" r="0" t="0"/>
          <a:stretch/>
        </p:blipFill>
        <p:spPr>
          <a:xfrm>
            <a:off x="1310326" y="3273565"/>
            <a:ext cx="7088610" cy="288019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Spring 2018 Question 4 Continued</a:t>
            </a:r>
            <a:endParaRPr/>
          </a:p>
        </p:txBody>
      </p:sp>
      <p:pic>
        <p:nvPicPr>
          <p:cNvPr id="769" name="Google Shape;769;p23"/>
          <p:cNvPicPr preferRelativeResize="0"/>
          <p:nvPr>
            <p:ph idx="1" type="body"/>
          </p:nvPr>
        </p:nvPicPr>
        <p:blipFill rotWithShape="1">
          <a:blip r:embed="rId3">
            <a:alphaModFix/>
          </a:blip>
          <a:srcRect b="0" l="0" r="0" t="0"/>
          <a:stretch/>
        </p:blipFill>
        <p:spPr>
          <a:xfrm>
            <a:off x="1173601" y="2049732"/>
            <a:ext cx="8768941" cy="3273038"/>
          </a:xfrm>
          <a:prstGeom prst="rect">
            <a:avLst/>
          </a:prstGeom>
          <a:noFill/>
          <a:ln>
            <a:noFill/>
          </a:ln>
        </p:spPr>
      </p:pic>
      <p:sp>
        <p:nvSpPr>
          <p:cNvPr id="770" name="Google Shape;770;p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Fall 13 Question 8</a:t>
            </a:r>
            <a:endParaRPr/>
          </a:p>
        </p:txBody>
      </p:sp>
      <p:pic>
        <p:nvPicPr>
          <p:cNvPr id="776" name="Google Shape;776;p25"/>
          <p:cNvPicPr preferRelativeResize="0"/>
          <p:nvPr>
            <p:ph idx="1" type="body"/>
          </p:nvPr>
        </p:nvPicPr>
        <p:blipFill rotWithShape="1">
          <a:blip r:embed="rId3">
            <a:alphaModFix/>
          </a:blip>
          <a:srcRect b="0" l="0" r="0" t="0"/>
          <a:stretch/>
        </p:blipFill>
        <p:spPr>
          <a:xfrm>
            <a:off x="1275315" y="1854839"/>
            <a:ext cx="10719904" cy="2047857"/>
          </a:xfrm>
          <a:prstGeom prst="rect">
            <a:avLst/>
          </a:prstGeom>
          <a:noFill/>
          <a:ln>
            <a:noFill/>
          </a:ln>
        </p:spPr>
      </p:pic>
      <p:sp>
        <p:nvSpPr>
          <p:cNvPr id="777" name="Google Shape;777;p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id="778" name="Google Shape;778;p25"/>
          <p:cNvPicPr preferRelativeResize="0"/>
          <p:nvPr/>
        </p:nvPicPr>
        <p:blipFill rotWithShape="1">
          <a:blip r:embed="rId4">
            <a:alphaModFix/>
          </a:blip>
          <a:srcRect b="0" l="0" r="0" t="0"/>
          <a:stretch/>
        </p:blipFill>
        <p:spPr>
          <a:xfrm>
            <a:off x="1902437" y="3684228"/>
            <a:ext cx="6606552" cy="537743"/>
          </a:xfrm>
          <a:prstGeom prst="rect">
            <a:avLst/>
          </a:prstGeom>
          <a:noFill/>
          <a:ln>
            <a:noFill/>
          </a:ln>
        </p:spPr>
      </p:pic>
      <p:pic>
        <p:nvPicPr>
          <p:cNvPr id="779" name="Google Shape;779;p25"/>
          <p:cNvPicPr preferRelativeResize="0"/>
          <p:nvPr/>
        </p:nvPicPr>
        <p:blipFill rotWithShape="1">
          <a:blip r:embed="rId5">
            <a:alphaModFix/>
          </a:blip>
          <a:srcRect b="0" l="0" r="0" t="0"/>
          <a:stretch/>
        </p:blipFill>
        <p:spPr>
          <a:xfrm>
            <a:off x="1902437" y="4368628"/>
            <a:ext cx="9799169" cy="3651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Fall 2017 Question 2</a:t>
            </a:r>
            <a:endParaRPr/>
          </a:p>
        </p:txBody>
      </p:sp>
      <p:pic>
        <p:nvPicPr>
          <p:cNvPr id="790" name="Google Shape;790;p27"/>
          <p:cNvPicPr preferRelativeResize="0"/>
          <p:nvPr>
            <p:ph idx="1" type="body"/>
          </p:nvPr>
        </p:nvPicPr>
        <p:blipFill rotWithShape="1">
          <a:blip r:embed="rId3">
            <a:alphaModFix/>
          </a:blip>
          <a:srcRect b="0" l="0" r="0" t="0"/>
          <a:stretch/>
        </p:blipFill>
        <p:spPr>
          <a:xfrm>
            <a:off x="1167064" y="1921218"/>
            <a:ext cx="10441214" cy="3027854"/>
          </a:xfrm>
          <a:prstGeom prst="rect">
            <a:avLst/>
          </a:prstGeom>
          <a:noFill/>
          <a:ln>
            <a:noFill/>
          </a:ln>
        </p:spPr>
      </p:pic>
      <p:sp>
        <p:nvSpPr>
          <p:cNvPr id="791" name="Google Shape;791;p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id="792" name="Google Shape;792;p27"/>
          <p:cNvPicPr preferRelativeResize="0"/>
          <p:nvPr/>
        </p:nvPicPr>
        <p:blipFill rotWithShape="1">
          <a:blip r:embed="rId4">
            <a:alphaModFix/>
          </a:blip>
          <a:srcRect b="0" l="0" r="0" t="0"/>
          <a:stretch/>
        </p:blipFill>
        <p:spPr>
          <a:xfrm>
            <a:off x="1585031" y="4949072"/>
            <a:ext cx="6923958" cy="77158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3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Spring 2016 Question 5</a:t>
            </a:r>
            <a:endParaRPr/>
          </a:p>
        </p:txBody>
      </p:sp>
      <p:pic>
        <p:nvPicPr>
          <p:cNvPr id="803" name="Google Shape;803;p31"/>
          <p:cNvPicPr preferRelativeResize="0"/>
          <p:nvPr>
            <p:ph idx="1" type="body"/>
          </p:nvPr>
        </p:nvPicPr>
        <p:blipFill rotWithShape="1">
          <a:blip r:embed="rId3">
            <a:alphaModFix/>
          </a:blip>
          <a:srcRect b="0" l="0" r="0" t="0"/>
          <a:stretch/>
        </p:blipFill>
        <p:spPr>
          <a:xfrm>
            <a:off x="1097280" y="1873598"/>
            <a:ext cx="10051676" cy="1450757"/>
          </a:xfrm>
          <a:prstGeom prst="rect">
            <a:avLst/>
          </a:prstGeom>
          <a:noFill/>
          <a:ln>
            <a:noFill/>
          </a:ln>
        </p:spPr>
      </p:pic>
      <p:sp>
        <p:nvSpPr>
          <p:cNvPr id="804" name="Google Shape;804;p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pic>
        <p:nvPicPr>
          <p:cNvPr id="805" name="Google Shape;805;p31"/>
          <p:cNvPicPr preferRelativeResize="0"/>
          <p:nvPr/>
        </p:nvPicPr>
        <p:blipFill rotWithShape="1">
          <a:blip r:embed="rId4">
            <a:alphaModFix/>
          </a:blip>
          <a:srcRect b="0" l="0" r="0" t="0"/>
          <a:stretch/>
        </p:blipFill>
        <p:spPr>
          <a:xfrm>
            <a:off x="1449229" y="3287187"/>
            <a:ext cx="10377095" cy="80458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3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ECE ILLINOIS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2018-09-18T23:40:17Z</dcterms:created>
  <dc:creator>Sanchit Vohra</dc:creator>
</cp:coreProperties>
</file>